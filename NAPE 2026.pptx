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1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DM Serif Display" charset="1" panose="00000000000000000000"/>
      <p:regular r:id="rId24"/>
    </p:embeddedFont>
    <p:embeddedFont>
      <p:font typeface="Public Sans" charset="1" panose="00000000000000000000"/>
      <p:regular r:id="rId25"/>
    </p:embeddedFont>
    <p:embeddedFont>
      <p:font typeface="Public Sans Bold" charset="1" panose="0000000000000000000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notesMasters/notesMaster1.xml" Type="http://schemas.openxmlformats.org/officeDocument/2006/relationships/notesMaster"/><Relationship Id="rId22" Target="theme/theme2.xml" Type="http://schemas.openxmlformats.org/officeDocument/2006/relationships/theme"/><Relationship Id="rId23" Target="notesSlides/notesSlide1.xml" Type="http://schemas.openxmlformats.org/officeDocument/2006/relationships/notes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notesSlides/notesSlide2.xml" Type="http://schemas.openxmlformats.org/officeDocument/2006/relationships/notesSlide"/><Relationship Id="rId27" Target="notesSlides/notesSlide3.xml" Type="http://schemas.openxmlformats.org/officeDocument/2006/relationships/notesSlide"/><Relationship Id="rId28" Target="fonts/font28.fntdata" Type="http://schemas.openxmlformats.org/officeDocument/2006/relationships/font"/><Relationship Id="rId29" Target="notesSlides/notesSlide4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5.xml" Type="http://schemas.openxmlformats.org/officeDocument/2006/relationships/notesSlide"/><Relationship Id="rId31" Target="notesSlides/notesSlide6.xml" Type="http://schemas.openxmlformats.org/officeDocument/2006/relationships/notesSlide"/><Relationship Id="rId32" Target="notesSlides/notesSlide7.xml" Type="http://schemas.openxmlformats.org/officeDocument/2006/relationships/notesSlide"/><Relationship Id="rId33" Target="notesSlides/notesSlide8.xml" Type="http://schemas.openxmlformats.org/officeDocument/2006/relationships/notesSlide"/><Relationship Id="rId34" Target="notesSlides/notesSlide9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2.png" Type="http://schemas.openxmlformats.org/officeDocument/2006/relationships/image"/><Relationship Id="rId4" Target="../embeddings/oleObject1.bin" Type="http://schemas.openxmlformats.org/officeDocument/2006/relationships/oleObject"/><Relationship Id="rId5" Target="../media/image3.png" Type="http://schemas.openxmlformats.org/officeDocument/2006/relationships/image"/><Relationship Id="rId6" Target="../embeddings/oleObject2.bin" Type="http://schemas.openxmlformats.org/officeDocument/2006/relationships/oleObject"/><Relationship Id="rId7" Target="../media/image4.png" Type="http://schemas.openxmlformats.org/officeDocument/2006/relationships/image"/><Relationship Id="rId8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embeddings/oleObject3.bin" Type="http://schemas.openxmlformats.org/officeDocument/2006/relationships/oleObjec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embeddings/oleObject4.bin" Type="http://schemas.openxmlformats.org/officeDocument/2006/relationships/oleObject"/><Relationship Id="rId4" Target="../media/image11.png" Type="http://schemas.openxmlformats.org/officeDocument/2006/relationships/image"/><Relationship Id="rId5" Target="../embeddings/oleObject5.bin" Type="http://schemas.openxmlformats.org/officeDocument/2006/relationships/oleObject"/><Relationship Id="rId6" Target="../media/image1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4.pn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embeddings/oleObject6.bin" Type="http://schemas.openxmlformats.org/officeDocument/2006/relationships/oleObjec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9.png" Type="http://schemas.openxmlformats.org/officeDocument/2006/relationships/image"/><Relationship Id="rId4" Target="../media/image20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embeddings/oleObject7.bin" Type="http://schemas.openxmlformats.org/officeDocument/2006/relationships/oleObjec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44352" y="3615825"/>
            <a:ext cx="14999296" cy="2083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94"/>
              </a:lnSpc>
            </a:pPr>
            <a:r>
              <a:rPr lang="en-US" sz="6912">
                <a:solidFill>
                  <a:srgbClr val="F3F3F3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Strategic Response to​</a:t>
            </a:r>
          </a:p>
          <a:p>
            <a:pPr algn="ctr">
              <a:lnSpc>
                <a:spcPts val="8294"/>
              </a:lnSpc>
            </a:pPr>
            <a:r>
              <a:rPr lang="en-US" sz="6912">
                <a:solidFill>
                  <a:srgbClr val="F3F3F3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Dissident Investor Activism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990425" y="8715376"/>
            <a:ext cx="8307150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>
                <a:solidFill>
                  <a:srgbClr val="F3F3F3"/>
                </a:solidFill>
                <a:latin typeface="Public Sans"/>
                <a:ea typeface="Public Sans"/>
                <a:cs typeface="Public Sans"/>
                <a:sym typeface="Public Sans"/>
              </a:rPr>
              <a:t>Team Members</a:t>
            </a:r>
          </a:p>
          <a:p>
            <a:pPr algn="ctr">
              <a:lnSpc>
                <a:spcPts val="2879"/>
              </a:lnSpc>
            </a:pPr>
            <a:r>
              <a:rPr lang="en-US" sz="2400">
                <a:solidFill>
                  <a:srgbClr val="F3F3F3"/>
                </a:solidFill>
                <a:latin typeface="Public Sans"/>
                <a:ea typeface="Public Sans"/>
                <a:cs typeface="Public Sans"/>
                <a:sym typeface="Public Sans"/>
              </a:rPr>
              <a:t>Anh Bui, Minh Nguyen, Cuong Nguyen</a:t>
            </a:r>
          </a:p>
        </p:txBody>
      </p:sp>
      <p:grpSp>
        <p:nvGrpSpPr>
          <p:cNvPr name="Group 5" id="5"/>
          <p:cNvGrpSpPr/>
          <p:nvPr/>
        </p:nvGrpSpPr>
        <p:grpSpPr>
          <a:xfrm rot="-10800000">
            <a:off x="15554475" y="726275"/>
            <a:ext cx="1924050" cy="1671600"/>
            <a:chOff x="0" y="0"/>
            <a:chExt cx="2565400" cy="2228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12700"/>
              <a:ext cx="2552700" cy="2216150"/>
            </a:xfrm>
            <a:custGeom>
              <a:avLst/>
              <a:gdLst/>
              <a:ahLst/>
              <a:cxnLst/>
              <a:rect r="r" b="b" t="t" l="l"/>
              <a:pathLst>
                <a:path h="2216150" w="2552700">
                  <a:moveTo>
                    <a:pt x="25400" y="0"/>
                  </a:moveTo>
                  <a:lnTo>
                    <a:pt x="25400" y="2203450"/>
                  </a:lnTo>
                  <a:lnTo>
                    <a:pt x="12700" y="2203450"/>
                  </a:lnTo>
                  <a:lnTo>
                    <a:pt x="12700" y="2190750"/>
                  </a:lnTo>
                  <a:lnTo>
                    <a:pt x="2552700" y="2190750"/>
                  </a:lnTo>
                  <a:lnTo>
                    <a:pt x="2552700" y="2216150"/>
                  </a:lnTo>
                  <a:lnTo>
                    <a:pt x="12700" y="2216150"/>
                  </a:lnTo>
                  <a:cubicBezTo>
                    <a:pt x="5715" y="2216150"/>
                    <a:pt x="0" y="2210435"/>
                    <a:pt x="0" y="220345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3F3F3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752625" y="7889101"/>
            <a:ext cx="1924050" cy="1671600"/>
            <a:chOff x="0" y="0"/>
            <a:chExt cx="2565400" cy="2228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12700"/>
              <a:ext cx="2552700" cy="2216150"/>
            </a:xfrm>
            <a:custGeom>
              <a:avLst/>
              <a:gdLst/>
              <a:ahLst/>
              <a:cxnLst/>
              <a:rect r="r" b="b" t="t" l="l"/>
              <a:pathLst>
                <a:path h="2216150" w="2552700">
                  <a:moveTo>
                    <a:pt x="25400" y="0"/>
                  </a:moveTo>
                  <a:lnTo>
                    <a:pt x="25400" y="2203450"/>
                  </a:lnTo>
                  <a:lnTo>
                    <a:pt x="12700" y="2203450"/>
                  </a:lnTo>
                  <a:lnTo>
                    <a:pt x="12700" y="2190750"/>
                  </a:lnTo>
                  <a:lnTo>
                    <a:pt x="2552700" y="2190750"/>
                  </a:lnTo>
                  <a:lnTo>
                    <a:pt x="2552700" y="2216150"/>
                  </a:lnTo>
                  <a:lnTo>
                    <a:pt x="12700" y="2216150"/>
                  </a:lnTo>
                  <a:cubicBezTo>
                    <a:pt x="5715" y="2216150"/>
                    <a:pt x="0" y="2210435"/>
                    <a:pt x="0" y="220345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3F3F3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828672" y="5912401"/>
            <a:ext cx="16630656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0"/>
              </a:lnSpc>
            </a:pPr>
            <a:r>
              <a:rPr lang="en-US" sz="3300">
                <a:solidFill>
                  <a:srgbClr val="F3F3F3"/>
                </a:solidFill>
                <a:latin typeface="Public Sans"/>
                <a:ea typeface="Public Sans"/>
                <a:cs typeface="Public Sans"/>
                <a:sym typeface="Public Sans"/>
              </a:rPr>
              <a:t>JV/PPA with AWS | Nuclear-Powered Data Center Strategy​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28672" y="726275"/>
            <a:ext cx="9859417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07"/>
              </a:lnSpc>
              <a:spcBef>
                <a:spcPct val="0"/>
              </a:spcBef>
            </a:pPr>
            <a:r>
              <a:rPr lang="en-US" sz="3089">
                <a:solidFill>
                  <a:srgbClr val="F3F3F3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2026 SMU C</a:t>
            </a:r>
            <a:r>
              <a:rPr lang="en-US" sz="3089">
                <a:solidFill>
                  <a:srgbClr val="F3F3F3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ox NAPE Energy Innovation Case Competition​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24798" y="1150647"/>
            <a:ext cx="17438404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6"/>
              </a:lnSpc>
            </a:pPr>
            <a:r>
              <a:rPr lang="en-US" sz="6405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Company Background &amp; Real-World Precedent​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03664" y="4062615"/>
            <a:ext cx="7605098" cy="4767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6"/>
              </a:lnSpc>
            </a:pPr>
            <a:r>
              <a:rPr lang="en-US" sz="259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• 13,000 MW total capacity (Nuclear + Gas + Coal)​</a:t>
            </a:r>
          </a:p>
          <a:p>
            <a:pPr algn="l">
              <a:lnSpc>
                <a:spcPts val="3116"/>
              </a:lnSpc>
            </a:pPr>
          </a:p>
          <a:p>
            <a:pPr algn="l">
              <a:lnSpc>
                <a:spcPts val="3116"/>
              </a:lnSpc>
            </a:pPr>
            <a:r>
              <a:rPr lang="en-US" sz="259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• 2,200 MW nuclear plant — PJM RTO</a:t>
            </a:r>
          </a:p>
          <a:p>
            <a:pPr algn="l">
              <a:lnSpc>
                <a:spcPts val="3116"/>
              </a:lnSpc>
            </a:pPr>
          </a:p>
          <a:p>
            <a:pPr algn="l">
              <a:lnSpc>
                <a:spcPts val="3116"/>
              </a:lnSpc>
            </a:pPr>
            <a:r>
              <a:rPr lang="en-US" sz="259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• $20B market cap | 45M shares | $444/share​</a:t>
            </a:r>
          </a:p>
          <a:p>
            <a:pPr algn="l">
              <a:lnSpc>
                <a:spcPts val="3116"/>
              </a:lnSpc>
            </a:pPr>
          </a:p>
          <a:p>
            <a:pPr algn="l">
              <a:lnSpc>
                <a:spcPts val="3116"/>
              </a:lnSpc>
            </a:pPr>
            <a:r>
              <a:rPr lang="en-US" sz="259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• 30x EV/EBITDA | BB credit rating​</a:t>
            </a:r>
          </a:p>
          <a:p>
            <a:pPr algn="l">
              <a:lnSpc>
                <a:spcPts val="3116"/>
              </a:lnSpc>
            </a:pPr>
          </a:p>
          <a:p>
            <a:pPr algn="l">
              <a:lnSpc>
                <a:spcPts val="3116"/>
              </a:lnSpc>
            </a:pPr>
            <a:r>
              <a:rPr lang="en-US" sz="259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• 9% dissident investor → 10% = special meeting​</a:t>
            </a:r>
          </a:p>
          <a:p>
            <a:pPr algn="l">
              <a:lnSpc>
                <a:spcPts val="3116"/>
              </a:lnSpc>
            </a:pPr>
          </a:p>
          <a:p>
            <a:pPr algn="l">
              <a:lnSpc>
                <a:spcPts val="3116"/>
              </a:lnSpc>
            </a:pPr>
            <a:r>
              <a:rPr lang="en-US" sz="259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• Target: 30% Adj FCF/share growth​</a:t>
            </a:r>
          </a:p>
          <a:p>
            <a:pPr algn="l">
              <a:lnSpc>
                <a:spcPts val="3116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2054816" y="3299053"/>
            <a:ext cx="3389338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66"/>
              </a:lnSpc>
            </a:pPr>
            <a:r>
              <a:rPr lang="en-US" sz="3805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OUR COMPANY​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052765" y="3299053"/>
            <a:ext cx="7438801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71"/>
              </a:lnSpc>
            </a:pPr>
            <a:r>
              <a:rPr lang="en-US" sz="380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REAL CASE: TALEN ENERGY (TLN)​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849393" y="4289147"/>
            <a:ext cx="7642173" cy="431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• 13,100 MW capacity — nearly identical fleet​</a:t>
            </a:r>
          </a:p>
          <a:p>
            <a:pPr algn="l">
              <a:lnSpc>
                <a:spcPts val="3120"/>
              </a:lnSpc>
            </a:pPr>
          </a:p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• 2,500 MW Susquehanna nuclear — PJM RTO​</a:t>
            </a:r>
          </a:p>
          <a:p>
            <a:pPr algn="l">
              <a:lnSpc>
                <a:spcPts val="3120"/>
              </a:lnSpc>
            </a:pPr>
          </a:p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• Sold Cumulus DC to AWS for $650M (Mar 2024)​</a:t>
            </a:r>
          </a:p>
          <a:p>
            <a:pPr algn="l">
              <a:lnSpc>
                <a:spcPts val="3120"/>
              </a:lnSpc>
            </a:pPr>
          </a:p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• 20-year nuclear PPA with AWS through 2042+​</a:t>
            </a:r>
          </a:p>
          <a:p>
            <a:pPr algn="l">
              <a:lnSpc>
                <a:spcPts val="3120"/>
              </a:lnSpc>
            </a:pPr>
          </a:p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• Stock: $60 → $389 — 6.5x appreciation​</a:t>
            </a:r>
          </a:p>
          <a:p>
            <a:pPr algn="l">
              <a:lnSpc>
                <a:spcPts val="3120"/>
              </a:lnSpc>
            </a:pPr>
          </a:p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• Market cap: $3B → $17.6B post-deal​</a:t>
            </a:r>
          </a:p>
        </p:txBody>
      </p:sp>
      <p:sp>
        <p:nvSpPr>
          <p:cNvPr name="AutoShape 7" id="7"/>
          <p:cNvSpPr/>
          <p:nvPr/>
        </p:nvSpPr>
        <p:spPr>
          <a:xfrm>
            <a:off x="8744334" y="2957365"/>
            <a:ext cx="0" cy="649224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461113" y="2130657"/>
          <a:ext cx="9844088" cy="3840480"/>
        </p:xfrm>
        <a:graphic>
          <a:graphicData uri="http://schemas.openxmlformats.org/presentationml/2006/ole">
            <p:oleObj imgW="11811000" imgH="5803900" r:id="rId4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graphicFrame>
        <p:nvGraphicFramePr>
          <p:cNvPr name="Object 3" id="3"/>
          <p:cNvGraphicFramePr/>
          <p:nvPr/>
        </p:nvGraphicFramePr>
        <p:xfrm>
          <a:off x="9958994" y="2130657"/>
          <a:ext cx="9844088" cy="3840480"/>
        </p:xfrm>
        <a:graphic>
          <a:graphicData uri="http://schemas.openxmlformats.org/presentationml/2006/ole">
            <p:oleObj imgW="11811000" imgH="5803900" r:id="rId6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Freeform 4" id="4"/>
          <p:cNvSpPr/>
          <p:nvPr/>
        </p:nvSpPr>
        <p:spPr>
          <a:xfrm flipH="false" flipV="false" rot="0">
            <a:off x="9712182" y="6896474"/>
            <a:ext cx="8471557" cy="3346265"/>
          </a:xfrm>
          <a:custGeom>
            <a:avLst/>
            <a:gdLst/>
            <a:ahLst/>
            <a:cxnLst/>
            <a:rect r="r" b="b" t="t" l="l"/>
            <a:pathLst>
              <a:path h="3346265" w="8471557">
                <a:moveTo>
                  <a:pt x="0" y="0"/>
                </a:moveTo>
                <a:lnTo>
                  <a:pt x="8471557" y="0"/>
                </a:lnTo>
                <a:lnTo>
                  <a:pt x="8471557" y="3346265"/>
                </a:lnTo>
                <a:lnTo>
                  <a:pt x="0" y="334626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847283" y="436345"/>
            <a:ext cx="10593433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07"/>
              </a:lnSpc>
            </a:pPr>
            <a:r>
              <a:rPr lang="en-US" sz="508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Market &amp; Financial — Options 1 &amp; 2​  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65374" y="1455520"/>
            <a:ext cx="8074809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85"/>
              </a:lnSpc>
            </a:pPr>
            <a:r>
              <a:rPr lang="en-US" sz="3404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Option 1: Acquire Data Center ($4–6B)​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117590" y="1455520"/>
            <a:ext cx="7300306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85"/>
              </a:lnSpc>
            </a:pPr>
            <a:r>
              <a:rPr lang="en-US" sz="3404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Option 2: Sell to Shell/ExxonMobil​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4261" y="6258299"/>
            <a:ext cx="18079478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8"/>
              </a:lnSpc>
            </a:pPr>
            <a:r>
              <a:rPr lang="en-US" b="true" sz="2440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VERDICT: Option 1 too expensive ($4–6B) and dilutive. Option 2 destroys long-term value. Neither unlocks the AI premium.​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96221" y="6896474"/>
            <a:ext cx="8443962" cy="3324810"/>
          </a:xfrm>
          <a:custGeom>
            <a:avLst/>
            <a:gdLst/>
            <a:ahLst/>
            <a:cxnLst/>
            <a:rect r="r" b="b" t="t" l="l"/>
            <a:pathLst>
              <a:path h="3324810" w="8443962">
                <a:moveTo>
                  <a:pt x="0" y="0"/>
                </a:moveTo>
                <a:lnTo>
                  <a:pt x="8443962" y="0"/>
                </a:lnTo>
                <a:lnTo>
                  <a:pt x="8443962" y="3324810"/>
                </a:lnTo>
                <a:lnTo>
                  <a:pt x="0" y="332481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1638" y="2975799"/>
            <a:ext cx="7649535" cy="5152395"/>
          </a:xfrm>
          <a:custGeom>
            <a:avLst/>
            <a:gdLst/>
            <a:ahLst/>
            <a:cxnLst/>
            <a:rect r="r" b="b" t="t" l="l"/>
            <a:pathLst>
              <a:path h="5152395" w="7649535">
                <a:moveTo>
                  <a:pt x="0" y="0"/>
                </a:moveTo>
                <a:lnTo>
                  <a:pt x="7649535" y="0"/>
                </a:lnTo>
                <a:lnTo>
                  <a:pt x="7649535" y="5152395"/>
                </a:lnTo>
                <a:lnTo>
                  <a:pt x="0" y="51523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20277" b="0"/>
            </a:stretch>
          </a:blipFill>
        </p:spPr>
      </p:sp>
      <p:graphicFrame>
        <p:nvGraphicFramePr>
          <p:cNvPr name="Object 3" id="3"/>
          <p:cNvGraphicFramePr/>
          <p:nvPr/>
        </p:nvGraphicFramePr>
        <p:xfrm>
          <a:off x="8199333" y="2402364"/>
          <a:ext cx="10387012" cy="4800600"/>
        </p:xfrm>
        <a:graphic>
          <a:graphicData uri="http://schemas.openxmlformats.org/presentationml/2006/ole">
            <p:oleObj imgW="12458700" imgH="68707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2862564" y="1019175"/>
            <a:ext cx="12191052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39"/>
              </a:lnSpc>
              <a:spcBef>
                <a:spcPct val="0"/>
              </a:spcBef>
            </a:pPr>
            <a:r>
              <a:rPr lang="en-US" sz="4699" spc="-23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Option 3: JV/PPA with AWS — Our Recommendation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2051207"/>
            <a:ext cx="16261643" cy="6629527"/>
          </a:xfrm>
          <a:custGeom>
            <a:avLst/>
            <a:gdLst/>
            <a:ahLst/>
            <a:cxnLst/>
            <a:rect r="r" b="b" t="t" l="l"/>
            <a:pathLst>
              <a:path h="6629527" w="16261643">
                <a:moveTo>
                  <a:pt x="0" y="0"/>
                </a:moveTo>
                <a:lnTo>
                  <a:pt x="16261643" y="0"/>
                </a:lnTo>
                <a:lnTo>
                  <a:pt x="16261643" y="6629526"/>
                </a:lnTo>
                <a:lnTo>
                  <a:pt x="0" y="66295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3537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140185" y="661987"/>
            <a:ext cx="8007629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39"/>
              </a:lnSpc>
              <a:spcBef>
                <a:spcPct val="0"/>
              </a:spcBef>
            </a:pPr>
            <a:r>
              <a:rPr lang="en-US" sz="4699" spc="-23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Option 3 — Revenue &amp; FCF Impact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28531" y="1515426"/>
            <a:ext cx="15930769" cy="6696579"/>
          </a:xfrm>
          <a:custGeom>
            <a:avLst/>
            <a:gdLst/>
            <a:ahLst/>
            <a:cxnLst/>
            <a:rect r="r" b="b" t="t" l="l"/>
            <a:pathLst>
              <a:path h="6696579" w="15930769">
                <a:moveTo>
                  <a:pt x="0" y="0"/>
                </a:moveTo>
                <a:lnTo>
                  <a:pt x="15930769" y="0"/>
                </a:lnTo>
                <a:lnTo>
                  <a:pt x="15930769" y="6696579"/>
                </a:lnTo>
                <a:lnTo>
                  <a:pt x="0" y="66965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6418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293704" y="3136712"/>
          <a:ext cx="9072562" cy="3429000"/>
        </p:xfrm>
        <a:graphic>
          <a:graphicData uri="http://schemas.openxmlformats.org/presentationml/2006/ole">
            <p:oleObj imgW="10883900" imgH="52451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graphicFrame>
        <p:nvGraphicFramePr>
          <p:cNvPr name="Object 3" id="3"/>
          <p:cNvGraphicFramePr/>
          <p:nvPr/>
        </p:nvGraphicFramePr>
        <p:xfrm>
          <a:off x="9582152" y="3136712"/>
          <a:ext cx="9072562" cy="3429000"/>
        </p:xfrm>
        <a:graphic>
          <a:graphicData uri="http://schemas.openxmlformats.org/presentationml/2006/ole">
            <p:oleObj imgW="10883900" imgH="52451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Freeform 4" id="4"/>
          <p:cNvSpPr/>
          <p:nvPr/>
        </p:nvSpPr>
        <p:spPr>
          <a:xfrm flipH="false" flipV="false" rot="0">
            <a:off x="1478822" y="6820149"/>
            <a:ext cx="15330355" cy="2438151"/>
          </a:xfrm>
          <a:custGeom>
            <a:avLst/>
            <a:gdLst/>
            <a:ahLst/>
            <a:cxnLst/>
            <a:rect r="r" b="b" t="t" l="l"/>
            <a:pathLst>
              <a:path h="2438151" w="15330355">
                <a:moveTo>
                  <a:pt x="0" y="0"/>
                </a:moveTo>
                <a:lnTo>
                  <a:pt x="15330356" y="0"/>
                </a:lnTo>
                <a:lnTo>
                  <a:pt x="15330356" y="2438151"/>
                </a:lnTo>
                <a:lnTo>
                  <a:pt x="0" y="243815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3145" t="0" r="-1143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339476" y="766248"/>
            <a:ext cx="9493205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39"/>
              </a:lnSpc>
              <a:spcBef>
                <a:spcPct val="0"/>
              </a:spcBef>
            </a:pPr>
            <a:r>
              <a:rPr lang="en-US" sz="4699" spc="-23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Operational &amp; Execution — Options 1 &amp; 2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16669" y="2397919"/>
            <a:ext cx="6065267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9"/>
              </a:lnSpc>
              <a:spcBef>
                <a:spcPct val="0"/>
              </a:spcBef>
            </a:pPr>
            <a:r>
              <a:rPr lang="en-US" sz="3399" spc="-16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Option 1: Acquire DC — Execution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846668" y="2397919"/>
            <a:ext cx="5972026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9"/>
              </a:lnSpc>
              <a:spcBef>
                <a:spcPct val="0"/>
              </a:spcBef>
            </a:pPr>
            <a:r>
              <a:rPr lang="en-US" sz="3399" spc="-16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Option 2: Sale — Execution Risks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90390" y="1898636"/>
            <a:ext cx="17707221" cy="6861548"/>
          </a:xfrm>
          <a:custGeom>
            <a:avLst/>
            <a:gdLst/>
            <a:ahLst/>
            <a:cxnLst/>
            <a:rect r="r" b="b" t="t" l="l"/>
            <a:pathLst>
              <a:path h="6861548" w="17707221">
                <a:moveTo>
                  <a:pt x="0" y="0"/>
                </a:moveTo>
                <a:lnTo>
                  <a:pt x="17707220" y="0"/>
                </a:lnTo>
                <a:lnTo>
                  <a:pt x="17707220" y="6861548"/>
                </a:lnTo>
                <a:lnTo>
                  <a:pt x="0" y="68615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015215" y="661987"/>
            <a:ext cx="7451959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39"/>
              </a:lnSpc>
              <a:spcBef>
                <a:spcPct val="0"/>
              </a:spcBef>
            </a:pPr>
            <a:r>
              <a:rPr lang="en-US" sz="4699" spc="-23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Option 3 — Execution Roadmap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39349" y="1831088"/>
            <a:ext cx="10122265" cy="7427212"/>
          </a:xfrm>
          <a:custGeom>
            <a:avLst/>
            <a:gdLst/>
            <a:ahLst/>
            <a:cxnLst/>
            <a:rect r="r" b="b" t="t" l="l"/>
            <a:pathLst>
              <a:path h="7427212" w="10122265">
                <a:moveTo>
                  <a:pt x="0" y="0"/>
                </a:moveTo>
                <a:lnTo>
                  <a:pt x="10122265" y="0"/>
                </a:lnTo>
                <a:lnTo>
                  <a:pt x="10122265" y="7427212"/>
                </a:lnTo>
                <a:lnTo>
                  <a:pt x="0" y="74272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318806" y="2381091"/>
            <a:ext cx="5697740" cy="6877209"/>
          </a:xfrm>
          <a:custGeom>
            <a:avLst/>
            <a:gdLst/>
            <a:ahLst/>
            <a:cxnLst/>
            <a:rect r="r" b="b" t="t" l="l"/>
            <a:pathLst>
              <a:path h="6877209" w="5697740">
                <a:moveTo>
                  <a:pt x="0" y="0"/>
                </a:moveTo>
                <a:lnTo>
                  <a:pt x="5697740" y="0"/>
                </a:lnTo>
                <a:lnTo>
                  <a:pt x="5697740" y="6877209"/>
                </a:lnTo>
                <a:lnTo>
                  <a:pt x="0" y="687720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233917" y="661987"/>
            <a:ext cx="14294596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39"/>
              </a:lnSpc>
            </a:pPr>
            <a:r>
              <a:rPr lang="en-US" sz="4699" spc="-230">
                <a:solidFill>
                  <a:srgbClr val="333333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Sensitivity Analysis — What Drives Value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732718" y="1602219"/>
            <a:ext cx="2869916" cy="562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41"/>
              </a:lnSpc>
              <a:spcBef>
                <a:spcPct val="0"/>
              </a:spcBef>
            </a:pPr>
            <a:r>
              <a:rPr lang="en-US" sz="3701" spc="-181">
                <a:solidFill>
                  <a:srgbClr val="333333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Key Takeaways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90554" y="1571798"/>
            <a:ext cx="17906891" cy="8291084"/>
          </a:xfrm>
          <a:custGeom>
            <a:avLst/>
            <a:gdLst/>
            <a:ahLst/>
            <a:cxnLst/>
            <a:rect r="r" b="b" t="t" l="l"/>
            <a:pathLst>
              <a:path h="8291084" w="17906891">
                <a:moveTo>
                  <a:pt x="0" y="0"/>
                </a:moveTo>
                <a:lnTo>
                  <a:pt x="17906892" y="0"/>
                </a:lnTo>
                <a:lnTo>
                  <a:pt x="17906892" y="8291084"/>
                </a:lnTo>
                <a:lnTo>
                  <a:pt x="0" y="82910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3755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233917" y="661987"/>
            <a:ext cx="14294596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39"/>
              </a:lnSpc>
            </a:pPr>
            <a:r>
              <a:rPr lang="en-US" sz="4699" spc="-230">
                <a:solidFill>
                  <a:srgbClr val="333333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Comparative Analysis — All Three Options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2887227"/>
            <a:ext cx="16230600" cy="5173504"/>
          </a:xfrm>
          <a:custGeom>
            <a:avLst/>
            <a:gdLst/>
            <a:ahLst/>
            <a:cxnLst/>
            <a:rect r="r" b="b" t="t" l="l"/>
            <a:pathLst>
              <a:path h="5173504" w="16230600">
                <a:moveTo>
                  <a:pt x="0" y="0"/>
                </a:moveTo>
                <a:lnTo>
                  <a:pt x="16230600" y="0"/>
                </a:lnTo>
                <a:lnTo>
                  <a:pt x="16230600" y="5173503"/>
                </a:lnTo>
                <a:lnTo>
                  <a:pt x="0" y="51735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996702" y="1312674"/>
            <a:ext cx="14294596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39"/>
              </a:lnSpc>
            </a:pPr>
            <a:r>
              <a:rPr lang="en-US" sz="4699" spc="-230">
                <a:solidFill>
                  <a:srgbClr val="333333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Deal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1028700" y="1774334"/>
          <a:ext cx="14230350" cy="7543943"/>
        </p:xfrm>
        <a:graphic>
          <a:graphicData uri="http://schemas.openxmlformats.org/presentationml/2006/ole">
            <p:oleObj imgW="17068800" imgH="103886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1996702" y="661987"/>
            <a:ext cx="14294596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39"/>
              </a:lnSpc>
            </a:pPr>
            <a:r>
              <a:rPr lang="en-US" sz="4699" spc="-230">
                <a:solidFill>
                  <a:srgbClr val="333333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Risk Assessment &amp; Mitigation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48196" y="1609851"/>
            <a:ext cx="16591608" cy="6532945"/>
          </a:xfrm>
          <a:custGeom>
            <a:avLst/>
            <a:gdLst/>
            <a:ahLst/>
            <a:cxnLst/>
            <a:rect r="r" b="b" t="t" l="l"/>
            <a:pathLst>
              <a:path h="6532945" w="16591608">
                <a:moveTo>
                  <a:pt x="0" y="0"/>
                </a:moveTo>
                <a:lnTo>
                  <a:pt x="16591608" y="0"/>
                </a:lnTo>
                <a:lnTo>
                  <a:pt x="16591608" y="6532945"/>
                </a:lnTo>
                <a:lnTo>
                  <a:pt x="0" y="65329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8366760"/>
            <a:ext cx="18288000" cy="1920240"/>
          </a:xfrm>
          <a:custGeom>
            <a:avLst/>
            <a:gdLst/>
            <a:ahLst/>
            <a:cxnLst/>
            <a:rect r="r" b="b" t="t" l="l"/>
            <a:pathLst>
              <a:path h="1920240" w="18288000">
                <a:moveTo>
                  <a:pt x="0" y="0"/>
                </a:moveTo>
                <a:lnTo>
                  <a:pt x="18288000" y="0"/>
                </a:lnTo>
                <a:lnTo>
                  <a:pt x="18288000" y="1920240"/>
                </a:lnTo>
                <a:lnTo>
                  <a:pt x="0" y="19202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126461" y="661987"/>
            <a:ext cx="14294596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39"/>
              </a:lnSpc>
            </a:pPr>
            <a:r>
              <a:rPr lang="en-US" sz="4699" spc="-230">
                <a:solidFill>
                  <a:srgbClr val="333333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ESG &amp; Sustainability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55669" y="1730371"/>
            <a:ext cx="11376662" cy="6083761"/>
          </a:xfrm>
          <a:custGeom>
            <a:avLst/>
            <a:gdLst/>
            <a:ahLst/>
            <a:cxnLst/>
            <a:rect r="r" b="b" t="t" l="l"/>
            <a:pathLst>
              <a:path h="6083761" w="11376662">
                <a:moveTo>
                  <a:pt x="0" y="0"/>
                </a:moveTo>
                <a:lnTo>
                  <a:pt x="11376662" y="0"/>
                </a:lnTo>
                <a:lnTo>
                  <a:pt x="11376662" y="6083762"/>
                </a:lnTo>
                <a:lnTo>
                  <a:pt x="0" y="60837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916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8124460"/>
            <a:ext cx="16325088" cy="2162540"/>
          </a:xfrm>
          <a:custGeom>
            <a:avLst/>
            <a:gdLst/>
            <a:ahLst/>
            <a:cxnLst/>
            <a:rect r="r" b="b" t="t" l="l"/>
            <a:pathLst>
              <a:path h="2162540" w="16325088">
                <a:moveTo>
                  <a:pt x="0" y="0"/>
                </a:moveTo>
                <a:lnTo>
                  <a:pt x="16325088" y="0"/>
                </a:lnTo>
                <a:lnTo>
                  <a:pt x="16325088" y="2162540"/>
                </a:lnTo>
                <a:lnTo>
                  <a:pt x="0" y="21625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4555" r="0" b="-26988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50058" y="637355"/>
            <a:ext cx="7023929" cy="782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04"/>
              </a:lnSpc>
            </a:pPr>
            <a:r>
              <a:rPr lang="en-US" sz="5170" spc="-253">
                <a:solidFill>
                  <a:srgbClr val="3A4E42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Risk Assesment &amp; Solution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3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1028700" y="2182060"/>
          <a:ext cx="14230350" cy="3840480"/>
        </p:xfrm>
        <a:graphic>
          <a:graphicData uri="http://schemas.openxmlformats.org/presentationml/2006/ole">
            <p:oleObj imgW="17068800" imgH="66802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2612397" y="671828"/>
            <a:ext cx="13496996" cy="1995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71"/>
              </a:lnSpc>
            </a:pPr>
            <a:r>
              <a:rPr lang="en-US" sz="6559" spc="-321">
                <a:solidFill>
                  <a:srgbClr val="3A4E42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Nuclear Regulatory &amp; Risk Management</a:t>
            </a:r>
          </a:p>
          <a:p>
            <a:pPr algn="l">
              <a:lnSpc>
                <a:spcPts val="7871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DAG5AWuocVY</dc:identifier>
  <dcterms:modified xsi:type="dcterms:W3CDTF">2011-08-01T06:04:30Z</dcterms:modified>
  <cp:revision>1</cp:revision>
  <dc:title>NAPE 2026</dc:title>
</cp:coreProperties>
</file>