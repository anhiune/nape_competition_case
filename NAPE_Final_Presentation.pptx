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Nuclear Revenue ($M)</c:v>
                </c:pt>
              </c:strCache>
            </c:strRef>
          </c:tx>
          <c:spPr>
            <a:solidFill>
              <a:srgbClr val="3A4E42"/>
            </a:solidFill>
          </c:spPr>
          <c:dLbls>
            <c:numFmt formatCode="$#,##0&quot;M&quot;" sourceLinked="0"/>
            <c:txPr>
              <a:bodyPr/>
              <a:lstStyle/>
              <a:p>
                <a:pPr>
                  <a:defRPr sz="1000" b="1">
                    <a:solidFill>
                      <a:srgbClr val="3A4E4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Current
(Merchant)</c:v>
                </c:pt>
                <c:pt idx="1">
                  <c:v>Year 1
(PPA)</c:v>
                </c:pt>
                <c:pt idx="2">
                  <c:v>Year 3</c:v>
                </c:pt>
                <c:pt idx="3">
                  <c:v>Year 5</c:v>
                </c:pt>
                <c:pt idx="4">
                  <c:v>Year 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637</c:v>
                </c:pt>
                <c:pt idx="1">
                  <c:v>1150</c:v>
                </c:pt>
                <c:pt idx="2">
                  <c:v>1200</c:v>
                </c:pt>
                <c:pt idx="3">
                  <c:v>1270</c:v>
                </c:pt>
                <c:pt idx="4">
                  <c:v>1550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>
          <c:spPr>
            <a:ln>
              <a:solidFill>
                <a:srgbClr val="E9E3DE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Price ($)</c:v>
                </c:pt>
              </c:strCache>
            </c:strRef>
          </c:tx>
          <c:spPr>
            <a:ln w="38100">
              <a:solidFill>
                <a:srgbClr val="3A4E42"/>
              </a:solidFill>
            </a:ln>
          </c:spPr>
          <c:marker>
            <c:symbol val="circle"/>
            <c:size val="10"/>
            <c:spPr>
              <a:solidFill>
                <a:srgbClr val="6AC758"/>
              </a:solidFill>
            </c:spPr>
          </c:marker>
          <c:dLbls>
            <c:numFmt formatCode="$#,##0" sourceLinked="0"/>
            <c:txPr>
              <a:bodyPr/>
              <a:lstStyle/>
              <a:p>
                <a:pPr>
                  <a:defRPr sz="1000" b="1">
                    <a:solidFill>
                      <a:srgbClr val="3A4E4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Current</c:v>
                </c:pt>
                <c:pt idx="1">
                  <c:v>Year 1</c:v>
                </c:pt>
                <c:pt idx="2">
                  <c:v>Year 2</c:v>
                </c:pt>
                <c:pt idx="3">
                  <c:v>Year 3</c:v>
                </c:pt>
                <c:pt idx="4">
                  <c:v>Year 4</c:v>
                </c:pt>
                <c:pt idx="5">
                  <c:v>Year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444</c:v>
                </c:pt>
                <c:pt idx="1">
                  <c:v>711</c:v>
                </c:pt>
                <c:pt idx="2">
                  <c:v>844</c:v>
                </c:pt>
                <c:pt idx="3">
                  <c:v>978</c:v>
                </c:pt>
                <c:pt idx="4">
                  <c:v>1067</c:v>
                </c:pt>
                <c:pt idx="5">
                  <c:v>1156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>
          <c:spPr>
            <a:ln>
              <a:solidFill>
                <a:srgbClr val="E9E3DE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Low Case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PPA Price ($/MWh)</c:v>
                </c:pt>
                <c:pt idx="1">
                  <c:v>EV/EBITDA Multiple</c:v>
                </c:pt>
                <c:pt idx="2">
                  <c:v>Nuclear Cap Factor</c:v>
                </c:pt>
                <c:pt idx="3">
                  <c:v>WACC</c:v>
                </c:pt>
                <c:pt idx="4">
                  <c:v>PPA Term (years)</c:v>
                </c:pt>
                <c:pt idx="5">
                  <c:v>Gas Curve ($/MMBtu)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-6.2</c:v>
                </c:pt>
                <c:pt idx="1">
                  <c:v>-4.5</c:v>
                </c:pt>
                <c:pt idx="2">
                  <c:v>-3.1</c:v>
                </c:pt>
                <c:pt idx="3">
                  <c:v>-1.8</c:v>
                </c:pt>
                <c:pt idx="4">
                  <c:v>-2.0</c:v>
                </c:pt>
                <c:pt idx="5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Case</c:v>
                </c:pt>
              </c:strCache>
            </c:strRef>
          </c:tx>
          <c:spPr>
            <a:solidFill>
              <a:srgbClr val="6AC758"/>
            </a:solidFill>
          </c:spPr>
          <c:cat>
            <c:strRef>
              <c:f>Sheet1!$A$2:$A$7</c:f>
              <c:strCache>
                <c:ptCount val="6"/>
                <c:pt idx="0">
                  <c:v>PPA Price ($/MWh)</c:v>
                </c:pt>
                <c:pt idx="1">
                  <c:v>EV/EBITDA Multiple</c:v>
                </c:pt>
                <c:pt idx="2">
                  <c:v>Nuclear Cap Factor</c:v>
                </c:pt>
                <c:pt idx="3">
                  <c:v>WACC</c:v>
                </c:pt>
                <c:pt idx="4">
                  <c:v>PPA Term (years)</c:v>
                </c:pt>
                <c:pt idx="5">
                  <c:v>Gas Curve ($/MMBtu)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</c:v>
                </c:pt>
                <c:pt idx="1">
                  <c:v>3.2</c:v>
                </c:pt>
                <c:pt idx="2">
                  <c:v>1.8</c:v>
                </c:pt>
                <c:pt idx="3">
                  <c:v>2.4</c:v>
                </c:pt>
                <c:pt idx="4">
                  <c:v>1.4</c:v>
                </c:pt>
                <c:pt idx="5">
                  <c:v>-1.5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title>
          <c:tx>
            <c:rich>
              <a:bodyPr/>
              <a:lstStyle/>
              <a:p>
                <a:pPr>
                  <a:defRPr sz="900"/>
                </a:pPr>
                <a:r>
                  <a:t>NPV Impact ($B)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Opt 1: Acquire DC</c:v>
                </c:pt>
              </c:strCache>
            </c:strRef>
          </c:tx>
          <c:spPr>
            <a:solidFill>
              <a:srgbClr val="AFD480"/>
            </a:solidFill>
          </c:spPr>
          <c:cat>
            <c:strRef>
              <c:f>Sheet1!$A$2:$A$7</c:f>
              <c:strCache>
                <c:ptCount val="6"/>
                <c:pt idx="0">
                  <c:v>FCF/Share
Growth (25%)</c:v>
                </c:pt>
                <c:pt idx="1">
                  <c:v>Multiple
Expansion (20%)</c:v>
                </c:pt>
                <c:pt idx="2">
                  <c:v>Execution
Risk (20%)</c:v>
                </c:pt>
                <c:pt idx="3">
                  <c:v>Shareholder
Value (15%)</c:v>
                </c:pt>
                <c:pt idx="4">
                  <c:v>Independence
(10%)</c:v>
                </c:pt>
                <c:pt idx="5">
                  <c:v>Satisfies
Dissident (10%)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5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 2: Sell</c:v>
                </c:pt>
              </c:strCache>
            </c:strRef>
          </c:tx>
          <c:spPr>
            <a:solidFill>
              <a:srgbClr val="B0A599"/>
            </a:solidFill>
          </c:spPr>
          <c:cat>
            <c:strRef>
              <c:f>Sheet1!$A$2:$A$7</c:f>
              <c:strCache>
                <c:ptCount val="6"/>
                <c:pt idx="0">
                  <c:v>FCF/Share
Growth (25%)</c:v>
                </c:pt>
                <c:pt idx="1">
                  <c:v>Multiple
Expansion (20%)</c:v>
                </c:pt>
                <c:pt idx="2">
                  <c:v>Execution
Risk (20%)</c:v>
                </c:pt>
                <c:pt idx="3">
                  <c:v>Shareholder
Value (15%)</c:v>
                </c:pt>
                <c:pt idx="4">
                  <c:v>Independence
(10%)</c:v>
                </c:pt>
                <c:pt idx="5">
                  <c:v>Satisfies
Dissident (10%)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4</c:v>
                </c:pt>
                <c:pt idx="4">
                  <c:v>0</c:v>
                </c:pt>
                <c:pt idx="5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 3: JV/PPA (Rec)</c:v>
                </c:pt>
              </c:strCache>
            </c:strRef>
          </c:tx>
          <c:spPr>
            <a:solidFill>
              <a:srgbClr val="3A4E42"/>
            </a:solidFill>
          </c:spPr>
          <c:cat>
            <c:strRef>
              <c:f>Sheet1!$A$2:$A$7</c:f>
              <c:strCache>
                <c:ptCount val="6"/>
                <c:pt idx="0">
                  <c:v>FCF/Share
Growth (25%)</c:v>
                </c:pt>
                <c:pt idx="1">
                  <c:v>Multiple
Expansion (20%)</c:v>
                </c:pt>
                <c:pt idx="2">
                  <c:v>Execution
Risk (20%)</c:v>
                </c:pt>
                <c:pt idx="3">
                  <c:v>Shareholder
Value (15%)</c:v>
                </c:pt>
                <c:pt idx="4">
                  <c:v>Independence
(10%)</c:v>
                </c:pt>
                <c:pt idx="5">
                  <c:v>Satisfies
Dissident (10%)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gapWidth val="8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5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 1: Acquire DC</c:v>
                </c:pt>
              </c:strCache>
            </c:strRef>
          </c:tx>
          <c:spPr>
            <a:solidFill>
              <a:srgbClr val="AFD480"/>
            </a:solidFill>
          </c:spPr>
          <c:cat>
            <c:strRef>
              <c:f>Sheet1!$A$2:$A$7</c:f>
              <c:strCache>
                <c:ptCount val="6"/>
                <c:pt idx="0">
                  <c:v>Carbon
Intensity</c:v>
                </c:pt>
                <c:pt idx="1">
                  <c:v>Regulatory
ESG Risk</c:v>
                </c:pt>
                <c:pt idx="2">
                  <c:v>Hyperscaler
Alignment</c:v>
                </c:pt>
                <c:pt idx="3">
                  <c:v>SEC Climate
Readiness</c:v>
                </c:pt>
                <c:pt idx="4">
                  <c:v>Community
Impact</c:v>
                </c:pt>
                <c:pt idx="5">
                  <c:v>Long-Term
Sustainability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 2: Sell to Oil</c:v>
                </c:pt>
              </c:strCache>
            </c:strRef>
          </c:tx>
          <c:spPr>
            <a:solidFill>
              <a:srgbClr val="B0A599"/>
            </a:solidFill>
          </c:spPr>
          <c:cat>
            <c:strRef>
              <c:f>Sheet1!$A$2:$A$7</c:f>
              <c:strCache>
                <c:ptCount val="6"/>
                <c:pt idx="0">
                  <c:v>Carbon
Intensity</c:v>
                </c:pt>
                <c:pt idx="1">
                  <c:v>Regulatory
ESG Risk</c:v>
                </c:pt>
                <c:pt idx="2">
                  <c:v>Hyperscaler
Alignment</c:v>
                </c:pt>
                <c:pt idx="3">
                  <c:v>SEC Climate
Readiness</c:v>
                </c:pt>
                <c:pt idx="4">
                  <c:v>Community
Impact</c:v>
                </c:pt>
                <c:pt idx="5">
                  <c:v>Long-Term
Sustainability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 3: JV/PPA</c:v>
                </c:pt>
              </c:strCache>
            </c:strRef>
          </c:tx>
          <c:spPr>
            <a:solidFill>
              <a:srgbClr val="5E9A66"/>
            </a:solidFill>
          </c:spPr>
          <c:cat>
            <c:strRef>
              <c:f>Sheet1!$A$2:$A$7</c:f>
              <c:strCache>
                <c:ptCount val="6"/>
                <c:pt idx="0">
                  <c:v>Carbon
Intensity</c:v>
                </c:pt>
                <c:pt idx="1">
                  <c:v>Regulatory
ESG Risk</c:v>
                </c:pt>
                <c:pt idx="2">
                  <c:v>Hyperscaler
Alignment</c:v>
                </c:pt>
                <c:pt idx="3">
                  <c:v>SEC Climate
Readiness</c:v>
                </c:pt>
                <c:pt idx="4">
                  <c:v>Community
Impact</c:v>
                </c:pt>
                <c:pt idx="5">
                  <c:v>Long-Term
Sustainability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 ($/MWh)</c:v>
                </c:pt>
              </c:strCache>
            </c:strRef>
          </c:tx>
          <c:spPr>
            <a:solidFill>
              <a:srgbClr val="5E9A66"/>
            </a:solidFill>
          </c:spPr>
          <c:dLbls>
            <c:numFmt formatCode="$#,##0.0&quot;/MWh&quot;" sourceLinked="0"/>
            <c:txPr>
              <a:bodyPr/>
              <a:lstStyle/>
              <a:p>
                <a:pPr>
                  <a:defRPr sz="1100" b="1">
                    <a:solidFill>
                      <a:srgbClr val="3A4E4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45Q Tax
Credit</c:v>
                </c:pt>
                <c:pt idx="1">
                  <c:v>Carbon Cost
Avoidance</c:v>
                </c:pt>
                <c:pt idx="2">
                  <c:v>Premium PPA
Pricing</c:v>
                </c:pt>
                <c:pt idx="3">
                  <c:v>Total CCUS
Value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12.5</c:v>
                </c:pt>
                <c:pt idx="1">
                  <c:v>8.0</c:v>
                </c:pt>
                <c:pt idx="2">
                  <c:v>7.5</c:v>
                </c:pt>
                <c:pt idx="3">
                  <c:v>28.0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our presentation for the 2026 SMU Cox NAPE Energy Innovation Case Competition.</a:t>
            </a:r>
          </a:p>
          <a:p/>
          <a:p>
            <a:r>
              <a:t>We are presenting our strategic recommendation for responding to a dissident investor who has accumulated a 9% stake in our company — an independent power producer with 13,000 MW of capacity including 2,200 MW of nuclear generation in the PJM market.</a:t>
            </a:r>
          </a:p>
          <a:p/>
          <a:p>
            <a:r>
              <a:t>Our recommendation: Execute a Joint Venture / Power Purchase Agreement with Amazon Web Services, modeled on Talen Energy's transformative AWS partnership.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case company is a $20B independent power producer with 13,000 MW in PJM — virtually identical to Talen Energy.</a:t>
            </a:r>
          </a:p>
          <a:p/>
          <a:p>
            <a:r>
              <a:t>Key company metrics:</a:t>
            </a:r>
          </a:p>
          <a:p>
            <a:r>
              <a:t>- 2,200 MW nuclear, leveraged heavily in baseload</a:t>
            </a:r>
          </a:p>
          <a:p>
            <a:r>
              <a:t>- 30x EV/EBITDA, $10.20 FCF/share, BB credit rating</a:t>
            </a:r>
          </a:p>
          <a:p>
            <a:r>
              <a:t>- A 9% dissident investor is threatening to reach 10%, which triggers a special meeting</a:t>
            </a:r>
          </a:p>
          <a:p/>
          <a:p>
            <a:r>
              <a:t>Talen Energy is our real-world model:</a:t>
            </a:r>
          </a:p>
          <a:p>
            <a:r>
              <a:t>- Nearly identical fleet (13,100 MW, 2,500 MW nuclear, PJM)</a:t>
            </a:r>
          </a:p>
          <a:p>
            <a:r>
              <a:t>- Sold Cumulus data center campus to AWS for $650M in March 2024</a:t>
            </a:r>
          </a:p>
          <a:p>
            <a:r>
              <a:t>- Stock went from $60 to $389 — 6.5x appreciation</a:t>
            </a:r>
          </a:p>
          <a:p>
            <a:r>
              <a:t>- Market cap grew from $3B to $17.6B</a:t>
            </a:r>
          </a:p>
          <a:p>
            <a:r>
              <a:t>- Has continued acquiring additional data centers to expand the AWS partnership</a:t>
            </a:r>
          </a:p>
          <a:p/>
          <a:p>
            <a:r>
              <a:t>The parallels are striking: same market, same fuel mix, same scale. If Talen can do it, so can 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a financial perspective, we evaluated all three options:</a:t>
            </a:r>
          </a:p>
          <a:p/>
          <a:p>
            <a:r>
              <a:t>Option 1 — Acquire a Data Center ($4–6B):</a:t>
            </a:r>
          </a:p>
          <a:p>
            <a:r>
              <a:t>The cost is prohibitive. At $4–6B, we'd need massive debt issuance (threatening our BB rating) or significant equity dilution. FCF/share would be dilutive for Years 1–2. No IPP has ever successfully integrated downstream into data center operations — these are fundamentally different businesses.</a:t>
            </a:r>
          </a:p>
          <a:p/>
          <a:p>
            <a:r>
              <a:t>Option 2 — Sell to Shell/ExxonMobil:</a:t>
            </a:r>
          </a:p>
          <a:p>
            <a:r>
              <a:t>While shareholders get an immediate 20–30% premium ($89–134/share), the company ceases to exist. Zero future upside from the AI/data center megatrend. ESG-focused investors would divest. Hyperscalers like AWS and Microsoft may terminate PPAs due to oil major ownership — destroying the very value the buyer is paying for.</a:t>
            </a:r>
          </a:p>
          <a:p/>
          <a:p>
            <a:r>
              <a:t>Neither option unlocks the true AI premium our nuclear assets command. That's why we recommend Option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financial case for Option 3 — our recommended strategy.</a:t>
            </a:r>
          </a:p>
          <a:p/>
          <a:p>
            <a:r>
              <a:t>We propose a Joint Venture / Power Purchase Agreement with Amazon Web Services, modeled directly on Talen Energy's March 2024 deal.</a:t>
            </a:r>
          </a:p>
          <a:p/>
          <a:p>
            <a:r>
              <a:t>Key terms:</a:t>
            </a:r>
          </a:p>
          <a:p>
            <a:r>
              <a:t>- 20-year PPA at $90-100/MWh for 1,500-2,000 MW of nuclear output</a:t>
            </a:r>
          </a:p>
          <a:p>
            <a:r>
              <a:t>- Current merchant price is only $51/MWh — this is an 86% revenue premium</a:t>
            </a:r>
          </a:p>
          <a:p>
            <a:r>
              <a:t>- Data center campus: 100-200 MW IT capacity, sold/JV'd with AWS for $750-900M</a:t>
            </a:r>
          </a:p>
          <a:p>
            <a:r>
              <a:t>- Total company investment: only $200-400M, funded from existing $260M cash + project debt</a:t>
            </a:r>
          </a:p>
          <a:p>
            <a:r>
              <a:t>- ZERO equity dilution</a:t>
            </a:r>
          </a:p>
          <a:p/>
          <a:p>
            <a:r>
              <a:t>Financial impact in Year 1:</a:t>
            </a:r>
          </a:p>
          <a:p>
            <a:r>
              <a:t>- Nuclear revenue jumps from $637M to $1,150M — that's +$513M in incremental revenue</a:t>
            </a:r>
          </a:p>
          <a:p>
            <a:r>
              <a:t>- Adj FCF/share goes from $10.20 to $16.87 — a 65% increase</a:t>
            </a:r>
          </a:p>
          <a:p>
            <a:r>
              <a:t>- Market cap grows from $20B to $30-35B</a:t>
            </a:r>
          </a:p>
          <a:p>
            <a:r>
              <a:t>- Share price: $444 to $667-778</a:t>
            </a:r>
          </a:p>
          <a:p/>
          <a:p>
            <a:r>
              <a:t>By Year 5: Market cap reaches $52B, share price exceeds $1,156.</a:t>
            </a:r>
          </a:p>
          <a:p/>
          <a:p>
            <a:r>
              <a:t>This is the only option that simultaneously delivers massive FCF growth, preserves independence, requires no dilution, and is proven by real-world precedent.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two charts show the financial trajectory of Option 3.</a:t>
            </a:r>
          </a:p>
          <a:p/>
          <a:p>
            <a:r>
              <a:t>Left chart — Nuclear Revenue:</a:t>
            </a:r>
          </a:p>
          <a:p>
            <a:r>
              <a:t>- Currently at $637M from merchant pricing at $51/MWh</a:t>
            </a:r>
          </a:p>
          <a:p>
            <a:r>
              <a:t>- PPA reprices to $95/MWh, jumping to $1,150M in Year 1</a:t>
            </a:r>
          </a:p>
          <a:p>
            <a:r>
              <a:t>- With 2% annual escalator, reaches $1,270M by Year 5 and $1,550M by Year 10</a:t>
            </a:r>
          </a:p>
          <a:p>
            <a:r>
              <a:t>- This is $513M in incremental annual revenue from Day 1</a:t>
            </a:r>
          </a:p>
          <a:p/>
          <a:p>
            <a:r>
              <a:t>Right chart — Share Price:</a:t>
            </a:r>
          </a:p>
          <a:p>
            <a:r>
              <a:t>- Starting at $444/share today</a:t>
            </a:r>
          </a:p>
          <a:p>
            <a:r>
              <a:t>- Year 1: $711 (based on $32B market cap / 45M shares)</a:t>
            </a:r>
          </a:p>
          <a:p>
            <a:r>
              <a:t>- Year 5: $1,156 — a 160% appreciation</a:t>
            </a:r>
          </a:p>
          <a:p>
            <a:r>
              <a:t>- Driven by EBITDA growth at 35x target multiple</a:t>
            </a:r>
          </a:p>
          <a:p/>
          <a:p>
            <a:r>
              <a:t>Key metrics at bottom: +$513M/yr revenue, +65% FCF growth, $1,156 target, zero dilution.</a:t>
            </a:r>
          </a:p>
          <a:p/>
          <a:p>
            <a:r>
              <a:t>This is transformative value creation with minimal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our teammate's time series analysis of Talen Energy's financial transformation.</a:t>
            </a:r>
          </a:p>
          <a:p/>
          <a:p>
            <a:r>
              <a:t>Key data points:</a:t>
            </a:r>
          </a:p>
          <a:p>
            <a:r>
              <a:t>- Stock price: Went from $60 (OTC post-bankruptcy May 2023) to $389 on NASDAQ — 6.5x appreciation</a:t>
            </a:r>
          </a:p>
          <a:p>
            <a:r>
              <a:t>- The inflection point was the March 2024 AWS Cumulus deal announcement</a:t>
            </a:r>
          </a:p>
          <a:p>
            <a:r>
              <a:t>- Revenue normalized from $3,089M to $2,115M post-restructuring, but profitability surged</a:t>
            </a:r>
          </a:p>
          <a:p>
            <a:r>
              <a:t>- Net income went from -$1,289M to +$998M</a:t>
            </a:r>
          </a:p>
          <a:p>
            <a:r>
              <a:t>- Market cap grew from ~$3B to $17.6B — 487% growth</a:t>
            </a:r>
          </a:p>
          <a:p/>
          <a:p>
            <a:r>
              <a:t>This is the real-world validation of our proposed strategy. Talen executed the exact playbook we're recommending, with nearly identical assets, and created exceptional shareholder value.</a:t>
            </a:r>
          </a:p>
          <a:p/>
          <a:p>
            <a:r>
              <a:t>Our projected trajectory overlays show similar or better potential given our stronger starting position ($20B market cap, no bankruptcy history, established credit).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an operational and execution standpoint, Options 1 and 2 face serious challenges.</a:t>
            </a:r>
          </a:p>
          <a:p/>
          <a:p>
            <a:r>
              <a:t>Option 1 — Acquiring a Data Center:</a:t>
            </a:r>
          </a:p>
          <a:p>
            <a:r>
              <a:t>- Integration complexity is HIGH. Power generation and data center operations are fundamentally different businesses requiring different skills, teams, and cultures.</a:t>
            </a:r>
          </a:p>
          <a:p>
            <a:r>
              <a:t>- Capital deployment of $4–6B requires an 18–24 month fundraising process</a:t>
            </a:r>
          </a:p>
          <a:p>
            <a:r>
              <a:t>- Need to hire data center engineers — our expertise is in power plant operations</a:t>
            </a:r>
          </a:p>
          <a:p/>
          <a:p>
            <a:r>
              <a:t>Option 2 — Sale to Oil Major:</a:t>
            </a:r>
          </a:p>
          <a:p>
            <a:r>
              <a:t>- NRC license transfer is the biggest hurdle: 12–18 months, $10–20M in legal costs</a:t>
            </a:r>
          </a:p>
          <a:p>
            <a:r>
              <a:t>- ESG backlash is severe — Shell/Exxon ownership triggers ESG fund divestment</a:t>
            </a:r>
          </a:p>
          <a:p>
            <a:r>
              <a:t>- Hyperscalers like AWS and Microsoft may terminate PPAs if our nuclear plant is oil-major-owned</a:t>
            </a:r>
          </a:p>
          <a:p/>
          <a:p>
            <a:r>
              <a:t>Option 3 by contrast:</a:t>
            </a:r>
          </a:p>
          <a:p>
            <a:r>
              <a:t>- PPA negotiation closes in 1–3 months — it's a bilateral contract</a:t>
            </a:r>
          </a:p>
          <a:p>
            <a:r>
              <a:t>- No license transfer needed — we retain nuclear ownership</a:t>
            </a:r>
          </a:p>
          <a:p>
            <a:r>
              <a:t>- Campus development is 6–12 months but PPA revenue starts immediately</a:t>
            </a:r>
          </a:p>
          <a:p>
            <a:r>
              <a:t>- We leverage AWS's own capital for DC build-out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5-phase execution roadmap.</a:t>
            </a:r>
          </a:p>
          <a:p/>
          <a:p>
            <a:r>
              <a:t>Phase 1 (Months 0–3): Negotiate and sign the PPA with AWS. This is a bilateral contract — no regulatory approval needed for front-of-meter PPA. Cost: $0. Revenue starts flowing.</a:t>
            </a:r>
          </a:p>
          <a:p/>
          <a:p>
            <a:r>
              <a:t>Phase 2 (Months 3–12): Develop a 100–200 MW data center campus co-located with our nuclear plant. Investment: $200–400M, but AWS funds the majority of the build-out.</a:t>
            </a:r>
          </a:p>
          <a:p/>
          <a:p>
            <a:r>
              <a:t>Phase 3 (Months 12–18): Sell or JV the campus to AWS for $750–900M. Talen got $650M for a smaller campus. Net cash inflow: +$350–500M. We retain expansion rights.</a:t>
            </a:r>
          </a:p>
          <a:p/>
          <a:p>
            <a:r>
              <a:t>Phase 4 (Years 2–5): Execute expansion phases. Add 300–500 MW of additional co-located capacity. Each phase generates incremental PPA revenue. Credit upgrade path: BB to BB+.</a:t>
            </a:r>
          </a:p>
          <a:p/>
          <a:p>
            <a:r>
              <a:t>Phase 5 (Years 3–7): Following Talen's Cumulus Growth playbook, acquire existing data centers near our power plants. $250–530M investment for $750M–1.6B in value creation.</a:t>
            </a:r>
          </a:p>
          <a:p/>
          <a:p>
            <a:r>
              <a:t>Total 5-year value: $30B+ market cap growth, $1,156/share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tornado chart shows which assumptions drive Option 3's value the most.</a:t>
            </a:r>
          </a:p>
          <a:p/>
          <a:p>
            <a:r>
              <a:t>Top drivers:</a:t>
            </a:r>
          </a:p>
          <a:p>
            <a:r>
              <a:t>1. PPA Price is #1 — swinging $11B in NPV between $75 and $110/MWh. This is why we recommend running a competitive bidding process among AWS, Microsoft, and Google to maximize price.</a:t>
            </a:r>
          </a:p>
          <a:p/>
          <a:p>
            <a:r>
              <a:t>2. EV/EBITDA multiple is #2 — $7.7B swing. Talen trades at 28x, which is our floor. With a proven PPA, 35-40x is achievable.</a:t>
            </a:r>
          </a:p>
          <a:p/>
          <a:p>
            <a:r>
              <a:t>3. Nuclear capacity factor is #3 — but at 92%, it's among the most stable inputs. Industry-wide nuclear CF has been above 90% since 2010.</a:t>
            </a:r>
          </a:p>
          <a:p/>
          <a:p>
            <a:r>
              <a:t>4. Gas curve actually helps us in both directions — higher gas prices increase wholesale power prices for our un-contracted capacity.</a:t>
            </a:r>
          </a:p>
          <a:p/>
          <a:p>
            <a:r>
              <a:t>Bottom line: Even in the low case ($75/MWh PPA), Option 3 generates $5.8B in NPV. The base case is $12.0B. The risk-reward is overwhelmingly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our teammate's analysis of Talen Energy's actual execution timeline.</a:t>
            </a:r>
          </a:p>
          <a:p/>
          <a:p>
            <a:r>
              <a:t>Key milestones:</a:t>
            </a:r>
          </a:p>
          <a:p>
            <a:r>
              <a:t>- March 2024: Sold Cumulus data center campus to AWS for $650M</a:t>
            </a:r>
          </a:p>
          <a:p>
            <a:r>
              <a:t>- July 2024: Uplisted from OTC to NASDAQ Global Select Market</a:t>
            </a:r>
          </a:p>
          <a:p>
            <a:r>
              <a:t>- 2024–2025: Continued acquiring additional data center facilities through Cumulus Growth subsidiary</a:t>
            </a:r>
          </a:p>
          <a:p>
            <a:r>
              <a:t>- PPA with AWS extends through 2042+</a:t>
            </a:r>
          </a:p>
          <a:p/>
          <a:p>
            <a:r>
              <a:t>This validates that:</a:t>
            </a:r>
          </a:p>
          <a:p>
            <a:r>
              <a:t>1. The deal can be structured and closed quickly (bilateral negotiation)</a:t>
            </a:r>
          </a:p>
          <a:p>
            <a:r>
              <a:t>2. The value creation is immediate (stock re-rated on announcement)</a:t>
            </a:r>
          </a:p>
          <a:p>
            <a:r>
              <a:t>3. The platform is expandable (Talen kept acquiring DCs post-deal)</a:t>
            </a:r>
          </a:p>
          <a:p>
            <a:r>
              <a:t>4. The partnership deepens over time (AWS keeps growing its power needs)</a:t>
            </a:r>
          </a:p>
          <a:p/>
          <a:p>
            <a:r>
              <a:t>Our plan mirrors this timeline but with a stronger starting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our weighted decision matrix comparing all three options across six criteria.</a:t>
            </a:r>
          </a:p>
          <a:p/>
          <a:p>
            <a:r>
              <a:t>Scoring (out of 5):</a:t>
            </a:r>
          </a:p>
          <a:p/>
          <a:p>
            <a:r>
              <a:t>FCF/Share Growth (25% weight):</a:t>
            </a:r>
          </a:p>
          <a:p>
            <a:r>
              <a:t>- Option 1: 2/5 — dilutive in Years 1–2</a:t>
            </a:r>
          </a:p>
          <a:p>
            <a:r>
              <a:t>- Option 2: 0/5 — company ceases to exist</a:t>
            </a:r>
          </a:p>
          <a:p>
            <a:r>
              <a:t>- Option 3: 5/5 — +65% Year 1 growth</a:t>
            </a:r>
          </a:p>
          <a:p/>
          <a:p>
            <a:r>
              <a:t>Multiple Expansion (20%):</a:t>
            </a:r>
          </a:p>
          <a:p>
            <a:r>
              <a:t>- Option 1: 3/5 — uncertain blended multiple</a:t>
            </a:r>
          </a:p>
          <a:p>
            <a:r>
              <a:t>- Option 2: 0/5 — N/A</a:t>
            </a:r>
          </a:p>
          <a:p>
            <a:r>
              <a:t>- Option 3: 5/5 — 30x to 35–40x (Talen achieved 28x from 5x)</a:t>
            </a:r>
          </a:p>
          <a:p/>
          <a:p>
            <a:r>
              <a:t>Execution Risk (20%):</a:t>
            </a:r>
          </a:p>
          <a:p>
            <a:r>
              <a:t>- Option 1: 2/5 — high complexity, unproven</a:t>
            </a:r>
          </a:p>
          <a:p>
            <a:r>
              <a:t>- Option 2: 3/5 — NRC regulatory risk</a:t>
            </a:r>
          </a:p>
          <a:p>
            <a:r>
              <a:t>- Option 3: 4/5 — proven by Talen precedent</a:t>
            </a:r>
          </a:p>
          <a:p/>
          <a:p>
            <a:r>
              <a:t>Shareholder Value (15%):</a:t>
            </a:r>
          </a:p>
          <a:p>
            <a:r>
              <a:t>- Option 1: 2/5 — neutral near-term</a:t>
            </a:r>
          </a:p>
          <a:p>
            <a:r>
              <a:t>- Option 2: 4/5 — immediate premium</a:t>
            </a:r>
          </a:p>
          <a:p>
            <a:r>
              <a:t>- Option 3: 5/5 — 2–3x upside</a:t>
            </a:r>
          </a:p>
          <a:p/>
          <a:p>
            <a:r>
              <a:t>Independence (10%):</a:t>
            </a:r>
          </a:p>
          <a:p>
            <a:r>
              <a:t>- Option 1: 5/5 — Yes</a:t>
            </a:r>
          </a:p>
          <a:p>
            <a:r>
              <a:t>- Option 2: 0/5 — No</a:t>
            </a:r>
          </a:p>
          <a:p>
            <a:r>
              <a:t>- Option 3: 5/5 — Yes</a:t>
            </a:r>
          </a:p>
          <a:p/>
          <a:p>
            <a:r>
              <a:t>Satisfies Dissident (10%):</a:t>
            </a:r>
          </a:p>
          <a:p>
            <a:r>
              <a:t>- Option 1: 3/5 — slow payoff</a:t>
            </a:r>
          </a:p>
          <a:p>
            <a:r>
              <a:t>- Option 2: 5/5 — full exit</a:t>
            </a:r>
          </a:p>
          <a:p>
            <a:r>
              <a:t>- Option 3: 5/5 — clear value creation</a:t>
            </a:r>
          </a:p>
          <a:p/>
          <a:p>
            <a:r>
              <a:t>Weighted scores: Option 1: 2.45, Option 2: 2.15, Option 3: 4.80</a:t>
            </a:r>
          </a:p>
          <a:p/>
          <a:p>
            <a:r>
              <a:t>Option 3 wins decisively.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 assessment for Option 3.</a:t>
            </a:r>
          </a:p>
          <a:p/>
          <a:p>
            <a:r>
              <a:t>Key risks and our mitigation strategies:</a:t>
            </a:r>
          </a:p>
          <a:p/>
          <a:p>
            <a:r>
              <a:t>1. PPA negotiation fails (20% probability, High impact):</a:t>
            </a:r>
          </a:p>
          <a:p>
            <a:r>
              <a:t>Mitigation: Multiple hyperscalers are actively seeking nuclear power. AWS (Talen), Microsoft (Constellation/TMI), Google (Fervo), Meta (nuclear interest). A competitive process ensures we have alternatives.</a:t>
            </a:r>
          </a:p>
          <a:p/>
          <a:p>
            <a:r>
              <a:t>2. FERC blocks behind-the-meter (30%, Medium):</a:t>
            </a:r>
          </a:p>
          <a:p>
            <a:r>
              <a:t>Mitigation: We structure as front-of-meter PPA as primary path — no FERC approval needed. BTM is a backup for higher value capture. Talen's deal survived FERC review.</a:t>
            </a:r>
          </a:p>
          <a:p/>
          <a:p>
            <a:r>
              <a:t>3. Nuclear outage (10%, High):</a:t>
            </a:r>
          </a:p>
          <a:p>
            <a:r>
              <a:t>Mitigation: Industry-wide nuclear CF is 92.5%. Our plant has dual-unit redundancy. Force majeure clauses protect PPA revenue.</a:t>
            </a:r>
          </a:p>
          <a:p/>
          <a:p>
            <a:r>
              <a:t>4. PPA pricing below target (25%, Low):</a:t>
            </a:r>
          </a:p>
          <a:p>
            <a:r>
              <a:t>Mitigation: Even at $75/MWh (our low case), we still generate +$290M/yr incremental revenue vs merchant pricing.</a:t>
            </a:r>
          </a:p>
          <a:p/>
          <a:p>
            <a:r>
              <a:t>5. Dissident escalation (35%, Medium):</a:t>
            </a:r>
          </a:p>
          <a:p>
            <a:r>
              <a:t>Mitigation: Offer a board seat. Announce the deal framework early to demonstrate strategic progress.</a:t>
            </a:r>
          </a:p>
          <a:p/>
          <a:p>
            <a:r>
              <a:t>6. Construction delay (30%, Low):</a:t>
            </a:r>
          </a:p>
          <a:p>
            <a:r>
              <a:t>Mitigation: PPA revenue starts Day 1 regardless of campus construction timeline.</a:t>
            </a:r>
          </a:p>
          <a:p/>
          <a:p>
            <a:r>
              <a:t>Key point: Talen faced far greater risks — emerging from bankruptcy, trading OTC, limited financial history — and still succeeded. We start from a much stronger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ESG is not just a checkbox — it's a strategic weapon for Option 3.</a:t>
            </a:r>
          </a:p>
          <a:p/>
          <a:p>
            <a:r>
              <a:t>The radar chart shows Option 3 dominates all ESG dimensions:</a:t>
            </a:r>
          </a:p>
          <a:p>
            <a:r>
              <a:t>- Carbon intensity: Nuclear = 0 g CO2/kWh vs Gas 410g, Coal 820g</a:t>
            </a:r>
          </a:p>
          <a:p>
            <a:r>
              <a:t>- Hyperscaler alignment: All four major hyperscalers have aggressive carbon-free targets</a:t>
            </a:r>
          </a:p>
          <a:p>
            <a:r>
              <a:t>- SEC climate disclosure: Nuclear baseload + CCUS roadmap = best-in-class compliance</a:t>
            </a:r>
          </a:p>
          <a:p/>
          <a:p>
            <a:r>
              <a:t>Hyperscaler sustainability mandates create massive demand for our offering:</a:t>
            </a:r>
          </a:p>
          <a:p>
            <a:r>
              <a:t>- AWS: Net-zero by 2040, 35+ GW of power needed</a:t>
            </a:r>
          </a:p>
          <a:p>
            <a:r>
              <a:t>- Microsoft: Carbon-negative by 2030, willing to pay premium for nuclear (TMI restart)</a:t>
            </a:r>
          </a:p>
          <a:p>
            <a:r>
              <a:t>- Google: 24/7 carbon-free by 2030</a:t>
            </a:r>
          </a:p>
          <a:p>
            <a:r>
              <a:t>- Meta: Net-zero by 2030</a:t>
            </a:r>
          </a:p>
          <a:p/>
          <a:p>
            <a:r>
              <a:t>ESG value quantification:</a:t>
            </a:r>
          </a:p>
          <a:p>
            <a:r>
              <a:t>- +1–2x EV/EBITDA premium from ESG investors = $1.3–2.6B market cap</a:t>
            </a:r>
          </a:p>
          <a:p>
            <a:r>
              <a:t>- Green bond eligibility saves 30–50 bps = $15–25M/yr</a:t>
            </a:r>
          </a:p>
          <a:p>
            <a:r>
              <a:t>- PPA premium for carbon-free power: +$3–5/MWh = $36–60M/yr</a:t>
            </a:r>
          </a:p>
          <a:p>
            <a:r>
              <a:t>- 45Q CCUS tax credits: $85–350M/yr (phased)</a:t>
            </a:r>
          </a:p>
          <a:p>
            <a:r>
              <a:t>- Total: $2–4B in ESG-driven value over 5 years</a:t>
            </a:r>
          </a:p>
          <a:p/>
          <a:p>
            <a:r>
              <a:t>Critical contrast: Option 2 (sale to Shell/Exxon) would destroy ESG value. ESG funds would divest, and hyperscalers may terminate PPAs.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CCUS Integration strengthens Option 3 by addressing our 6,500 MW gas fleet.</a:t>
            </a:r>
          </a:p>
          <a:p/>
          <a:p>
            <a:r>
              <a:t>The value stack chart shows CCUS adds $28/MWh to gas generation:</a:t>
            </a:r>
          </a:p>
          <a:p>
            <a:r>
              <a:t>- $12.5/MWh from 45Q tax credits ($85/ton for geological storage under the IRA)</a:t>
            </a:r>
          </a:p>
          <a:p>
            <a:r>
              <a:t>- $8.0/MWh from carbon cost avoidance (at $25/ton carbon price)</a:t>
            </a:r>
          </a:p>
          <a:p>
            <a:r>
              <a:t>- $7.5/MWh from premium PPA pricing (carbon-free gas commands higher prices)</a:t>
            </a:r>
          </a:p>
          <a:p/>
          <a:p>
            <a:r>
              <a:t>Phased deployment:</a:t>
            </a:r>
          </a:p>
          <a:p>
            <a:r>
              <a:t>- Phase 1 (2027–29): 800 MW pilot on most efficient CCGT, $85M/yr in 45Q credits</a:t>
            </a:r>
          </a:p>
          <a:p>
            <a:r>
              <a:t>- Phase 2 (2029–31): Scale to 2,000 MW baseload gas, $210M/yr</a:t>
            </a:r>
          </a:p>
          <a:p>
            <a:r>
              <a:t>- Phase 3 (2031–34): Full fleet at 3,500 MW, $350M/yr</a:t>
            </a:r>
          </a:p>
          <a:p>
            <a:r>
              <a:t>- Total investment: $2.8B over 7 years</a:t>
            </a:r>
          </a:p>
          <a:p/>
          <a:p>
            <a:r>
              <a:t>The competitive moat: No other IPP in PJM can offer 24/7 near-zero carbon energy.</a:t>
            </a:r>
          </a:p>
          <a:p>
            <a:r>
              <a:t>- Nuclear: 0 g CO2/MWh, 92% capacity factor</a:t>
            </a:r>
          </a:p>
          <a:p>
            <a:r>
              <a:t>- Gas + CCUS: ~72 lb/MWh (90% capture), always available</a:t>
            </a:r>
          </a:p>
          <a:p>
            <a:r>
              <a:t>- Combined: ~15 lb/MWh blended, 99.9% reliability</a:t>
            </a:r>
          </a:p>
          <a:p/>
          <a:p>
            <a:r>
              <a:t>This makes us the only choice for hyperscalers who need true 24/7 carbon-free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Nuclear regulatory considerations and our risk management approach.</a:t>
            </a:r>
          </a:p>
          <a:p/>
          <a:p>
            <a:r>
              <a:t>Four regulatory bodies and our solutions:</a:t>
            </a:r>
          </a:p>
          <a:p/>
          <a:p>
            <a:r>
              <a:t>1. NRC (Nuclear Regulatory Commission):</a:t>
            </a:r>
          </a:p>
          <a:p>
            <a:r>
              <a:t>- No license amendment needed for front-of-meter PPA</a:t>
            </a:r>
          </a:p>
          <a:p>
            <a:r>
              <a:t>- Behind-the-meter would require 10 CFR 50.90 amendment, but Talen got this approved</a:t>
            </a:r>
          </a:p>
          <a:p>
            <a:r>
              <a:t>- Risk: Low-Medium</a:t>
            </a:r>
          </a:p>
          <a:p/>
          <a:p>
            <a:r>
              <a:t>2. FERC:</a:t>
            </a:r>
          </a:p>
          <a:p>
            <a:r>
              <a:t>- Behind-the-meter reduces grid capacity — this is the biggest regulatory concern</a:t>
            </a:r>
          </a:p>
          <a:p>
            <a:r>
              <a:t>- Our solution: Front-of-meter PPA as primary track (no FERC approval needed)</a:t>
            </a:r>
          </a:p>
          <a:p>
            <a:r>
              <a:t>- Talen-AWS survived FERC review, setting favorable precedent</a:t>
            </a:r>
          </a:p>
          <a:p>
            <a:r>
              <a:t>- Risk: Medium</a:t>
            </a:r>
          </a:p>
          <a:p/>
          <a:p>
            <a:r>
              <a:t>3. State PUC:</a:t>
            </a:r>
          </a:p>
          <a:p>
            <a:r>
              <a:t>- Siting permits for DC campus is straightforward — nuclear sites already have industrial zoning</a:t>
            </a:r>
          </a:p>
          <a:p>
            <a:r>
              <a:t>- Risk: Low</a:t>
            </a:r>
          </a:p>
          <a:p/>
          <a:p>
            <a:r>
              <a:t>4. PJM RTO:</a:t>
            </a:r>
          </a:p>
          <a:p>
            <a:r>
              <a:t>- Capacity obligation preserved with front-of-meter PPA</a:t>
            </a:r>
          </a:p>
          <a:p>
            <a:r>
              <a:t>- Can offer replacement capacity from gas fleet for BTM scenario</a:t>
            </a:r>
          </a:p>
          <a:p>
            <a:r>
              <a:t>- Risk: Medium</a:t>
            </a:r>
          </a:p>
          <a:p/>
          <a:p>
            <a:r>
              <a:t>Dual-Track Strategy:</a:t>
            </a:r>
          </a:p>
          <a:p>
            <a:r>
              <a:t>- Track A (Primary): Front-of-meter PPA — standard bilateral trade, no regulatory approvals needed, preserves capacity market revenue</a:t>
            </a:r>
          </a:p>
          <a:p>
            <a:r>
              <a:t>- Track B (Backup): Behind-the-meter — higher value ($10-15/MWh transmission savings) but requires NRC amendment and faces FERC scrutiny</a:t>
            </a:r>
          </a:p>
          <a:p/>
          <a:p>
            <a:r>
              <a:t>Key advantage: Option 3 avoids the 12-18 month NRC license transfer that Option 2 requires, and avoids the antitrust reviews that Option 1 triggers.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274320"/>
            <a:ext cx="1097280" cy="1097280"/>
          </a:xfrm>
          <a:prstGeom prst="ellipse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0" y="914400"/>
            <a:ext cx="548640" cy="548640"/>
          </a:xfrm>
          <a:prstGeom prst="ellipse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FD480"/>
                </a:solidFill>
                <a:latin typeface="Calibri"/>
              </a:defRPr>
            </a:pPr>
            <a:r>
              <a:t>2026 SMU Cox NAPE Energy Innovation Case 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728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Strategic Response to</a:t>
            </a:r>
            <a:br/>
            <a:r>
              <a:t>Dissident Investor Activism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4DA"/>
                </a:solidFill>
                <a:latin typeface="Calibri"/>
              </a:defRPr>
            </a:pPr>
            <a:r>
              <a:t>JV/PPA with AWS  |  Talen Energy Precedent  |  Nuclear-Powered Data Center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49039"/>
            <a:ext cx="7315200" cy="38100"/>
          </a:xfrm>
          <a:prstGeom prst="rect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FD480"/>
                </a:solidFill>
                <a:latin typeface="Calibri"/>
              </a:defRPr>
            </a:pPr>
            <a:r>
              <a:t>TEAM MEMBERS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80560"/>
            <a:ext cx="2743200" cy="41148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Anh Bui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4480560"/>
            <a:ext cx="2743200" cy="41148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Cuong Nguyen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4480560"/>
            <a:ext cx="2743200" cy="41148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Minh Nguyen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A599"/>
                </a:solidFill>
                <a:latin typeface="Calibri"/>
              </a:defRPr>
            </a:pPr>
            <a:r>
              <a:t>February 18, 2026  |  Finals Presentation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Company Background &amp; Real-World Precedent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7432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OUR COMPANY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0292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4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A4E42"/>
                </a:solidFill>
                <a:latin typeface="Calibri"/>
              </a:defRPr>
            </a:pPr>
            <a:r>
              <a:t>Case Company Profile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13,000 MW total capacity (Nuclear + Gas + Coal)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2,200 MW nuclear plant in PJM RTO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$20B market cap  |  45M shares  |  $444/share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30x EV/EBITDA  |  $10.20 Adj FCF/share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9% dissident investor threatening 10% threshold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Goal: 30% Adj FCF/share growth target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323232"/>
                </a:solidFill>
                <a:latin typeface="Calibri"/>
              </a:defRPr>
            </a:pPr>
            <a:r>
              <a:t>BB credit rating  |  $3.1B net debt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097280"/>
            <a:ext cx="41148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REAL CASE: TALEN ENERGY (TLN)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554480"/>
            <a:ext cx="5486400" cy="27432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AFD480"/>
                </a:solidFill>
                <a:latin typeface="Calibri"/>
              </a:defRPr>
            </a:pPr>
            <a:r>
              <a:t>Talen Energy — Our Blueprint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13,100 MW total capacity — nearly identical fleet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2,500 MW Susquehanna nuclear (PJM RTO)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Sold Cumulus DC campus to AWS for $650M (Mar 2024)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Long-term PPA: nuclear power → AWS through 2042+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Stock: $60 → $389 — 6.5x appreciation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Continued acquiring new DCs to expand AWS partnership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Market cap: $3B → $17.6B post-deal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5720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Company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Talen Energy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Similarity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Implication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2,200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2,500 MW (Susquehanna)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88% match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Same baseload value for DCs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Total Fleet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13,000 MW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13,100 MW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99% match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Identical scale &amp; fuel mix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Market &amp; Financial Analysis — Options 1 &amp;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228600"/>
            <a:ext cx="32004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WHY WE PASSED ON THESE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4E42"/>
                </a:solidFill>
                <a:latin typeface="Calibri"/>
              </a:defRPr>
            </a:pPr>
            <a:r>
              <a:t>Option 1: Acquire Data Center ($4–6B)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  PROS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✗  CONS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Full value chain control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$4–6B cost → massive debt or dilution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Multiple expansion potential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Dilutive to FCF/share in Years 1–2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Direct AI/DC exposure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No IPP has successfully done this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Revenue diversification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Integration risk (power ≠ data centers)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Strategic optionality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BB rating at risk → potential downgrade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4E42"/>
                </a:solidFill>
                <a:latin typeface="Calibri"/>
              </a:defRPr>
            </a:pPr>
            <a:r>
              <a:t>Option 2: Sell to Shell/ExxonMobil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554480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  PROS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✗  CONS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Immediate 20–30% premium ($89–134/sh)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Company ceases to exist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Satisfies dissident with full 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0/5 FCF growth — no future upside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Certain value realization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ESG funds divest (oil major owner)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De-risks shareholders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Hyperscalers may terminate PPAs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No execution risk for shareholders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NRC license transfer: 12–18 months, $10–20M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4206240"/>
            <a:ext cx="10972800" cy="59436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FINANCIAL VERDICT: Option 1 is too expensive ($4–6B) and dilutive. Option 2 destroys long-term value. Neither unlocks the AI premium.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26060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5E9A66"/>
                </a:solidFill>
                <a:latin typeface="Calibri"/>
              </a:defRPr>
            </a:pPr>
            <a:r>
              <a:t>Option 1 Cost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3A4E42"/>
                </a:solidFill>
                <a:latin typeface="Calibri"/>
              </a:defRPr>
            </a:pPr>
            <a:r>
              <a:t>$4–6B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Massive debt/dilution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5029200"/>
            <a:ext cx="26060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5E9A66"/>
                </a:solidFill>
                <a:latin typeface="Calibri"/>
              </a:defRPr>
            </a:pPr>
            <a:r>
              <a:t>Option 2 Premium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3A4E42"/>
                </a:solidFill>
                <a:latin typeface="Calibri"/>
              </a:defRPr>
            </a:pPr>
            <a:r>
              <a:t>20–30%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One-time, no upside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5029200"/>
            <a:ext cx="26060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5E9A66"/>
                </a:solidFill>
                <a:latin typeface="Calibri"/>
              </a:defRPr>
            </a:pPr>
            <a:r>
              <a:t>Option 3 Cost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3A4E42"/>
                </a:solidFill>
                <a:latin typeface="Calibri"/>
              </a:defRPr>
            </a:pPr>
            <a:r>
              <a:t>$200–400M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Funded from cash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5029200"/>
            <a:ext cx="26060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5E9A66"/>
                </a:solidFill>
                <a:latin typeface="Calibri"/>
              </a:defRPr>
            </a:pPr>
            <a:r>
              <a:t>Option 3 Uplift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3A4E42"/>
                </a:solidFill>
                <a:latin typeface="Calibri"/>
              </a:defRPr>
            </a:pPr>
            <a:r>
              <a:t>+$513M/yr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Immediate FCF boost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Option 3: JV/PPA with AWS — Financial Impact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228600"/>
            <a:ext cx="22860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RECOMMENDED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02920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4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A4E42"/>
                </a:solidFill>
                <a:latin typeface="Calibri"/>
              </a:defRPr>
            </a:pPr>
            <a:r>
              <a:t>Deal Structure — Talen AWS Playbook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PPA Partner: </a:t>
            </a:r>
            <a:r>
              <a:rPr sz="1000">
                <a:solidFill>
                  <a:srgbClr val="323232"/>
                </a:solidFill>
                <a:latin typeface="Calibri"/>
              </a:rPr>
              <a:t>Amazon Web Services (AWS)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PPA Capacity: </a:t>
            </a:r>
            <a:r>
              <a:rPr sz="1000">
                <a:solidFill>
                  <a:srgbClr val="323232"/>
                </a:solidFill>
                <a:latin typeface="Calibri"/>
              </a:rPr>
              <a:t>1,500–2,000 MW nuclear output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PPA Price: </a:t>
            </a:r>
            <a:r>
              <a:rPr sz="1000">
                <a:solidFill>
                  <a:srgbClr val="323232"/>
                </a:solidFill>
                <a:latin typeface="Calibri"/>
              </a:rPr>
              <a:t>$90–100/MWh (vs $51 merchant)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PPA Duration: </a:t>
            </a:r>
            <a:r>
              <a:rPr sz="1000">
                <a:solidFill>
                  <a:srgbClr val="323232"/>
                </a:solidFill>
                <a:latin typeface="Calibri"/>
              </a:rPr>
              <a:t>20 years (2026–2046) + extension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DC Campus: </a:t>
            </a:r>
            <a:r>
              <a:rPr sz="1000">
                <a:solidFill>
                  <a:srgbClr val="323232"/>
                </a:solidFill>
                <a:latin typeface="Calibri"/>
              </a:rPr>
              <a:t>100–200 MW IT, sale to AWS for $750–900M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Total Investment: </a:t>
            </a:r>
            <a:r>
              <a:rPr sz="1000">
                <a:solidFill>
                  <a:srgbClr val="323232"/>
                </a:solidFill>
                <a:latin typeface="Calibri"/>
              </a:rPr>
              <a:t>$200–400M (funded from $260M cash)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5E9A66"/>
                </a:solidFill>
                <a:latin typeface="Calibri"/>
              </a:rPr>
              <a:t>Equity Dilution: </a:t>
            </a:r>
            <a:r>
              <a:rPr sz="1000">
                <a:solidFill>
                  <a:srgbClr val="323232"/>
                </a:solidFill>
                <a:latin typeface="Calibri"/>
              </a:rPr>
              <a:t>ZERO — no new shares issued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0" y="1097280"/>
          <a:ext cx="5669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Pre-Deal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Post-Deal (Yr 1)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Revenue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$637M (merchant)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$1,150M (PPA)  ▲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Incremental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+$513M/yr 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Adj FCF/Share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$10.20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$16.87  (+65%)  ▲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Market 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$20B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$30–35B 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Share Price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$444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$667–778  ▲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Credit Rating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BB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BB+ (upgrade path) 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60720" y="4206240"/>
            <a:ext cx="5669280" cy="91440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Why Pros Outweigh Cons: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✓ +65% FCF growth vs 30% target — immediately satisfies dissident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✓ $200M cost vs $4–6B (Option 1) — minimal balance sheet risk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✓ Preserves independence vs total sale (Option 2)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✓ Proven by Talen: 6.5x stock appreciation with identical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486400"/>
            <a:ext cx="1554480" cy="10972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FD480"/>
                </a:solidFill>
                <a:latin typeface="Calibri"/>
              </a:defRPr>
            </a:pPr>
            <a:r>
              <a:t>Year 1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$32B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$711/share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5486400"/>
            <a:ext cx="1554480" cy="10972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FD480"/>
                </a:solidFill>
                <a:latin typeface="Calibri"/>
              </a:defRPr>
            </a:pPr>
            <a:r>
              <a:t>Year 3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$44B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$978/share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486400"/>
            <a:ext cx="1554480" cy="10972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FD480"/>
                </a:solidFill>
                <a:latin typeface="Calibri"/>
              </a:defRPr>
            </a:pPr>
            <a:r>
              <a:t>Year 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$52B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$1,156/share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Option 3: Revenue &amp; Share Price Trajectory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E9A66"/>
                </a:solidFill>
                <a:latin typeface="Calibri"/>
              </a:defRPr>
            </a:pPr>
            <a:r>
              <a:t>Nuclear Revenue: $51/MWh Merchant → $95/MWh PPA (+2%/yr escalator)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09728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42976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E9A66"/>
                </a:solidFill>
                <a:latin typeface="Calibri"/>
              </a:defRPr>
            </a:pPr>
            <a:r>
              <a:t>Projected Share Price: $444 → $1,156 (+160% over 5 years)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937760"/>
            <a:ext cx="2606040" cy="15544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AFD480"/>
                </a:solidFill>
                <a:latin typeface="Calibri"/>
              </a:defRPr>
            </a:pPr>
            <a:r>
              <a:t>Incremental Revenue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+$513M/yr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4937760"/>
            <a:ext cx="2606040" cy="15544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AFD480"/>
                </a:solidFill>
                <a:latin typeface="Calibri"/>
              </a:defRPr>
            </a:pPr>
            <a:r>
              <a:t>Year 1 FCF Growth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+65%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937760"/>
            <a:ext cx="2606040" cy="15544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AFD480"/>
                </a:solidFill>
                <a:latin typeface="Calibri"/>
              </a:defRPr>
            </a:pPr>
            <a:r>
              <a:t>Year 5 Target Price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$1,156/sh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4937760"/>
            <a:ext cx="2606040" cy="15544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AFD480"/>
                </a:solidFill>
                <a:latin typeface="Calibri"/>
              </a:defRPr>
            </a:pPr>
            <a:r>
              <a:t>Shares Diluted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Talen Energy — Financial Transformation (Real Case)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228600"/>
            <a:ext cx="32004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REAL-WORLD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3152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5E9A66"/>
                </a:solidFill>
                <a:latin typeface="Calibri"/>
              </a:defRPr>
            </a:pPr>
            <a:r>
              <a:t>[TEAMMATE'S CHART — TALEN ENERGY FINANCIAL TIME SERIES]</a:t>
            </a:r>
          </a:p>
          <a:p>
            <a:br/>
            <a:pPr algn="ctr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23232"/>
                </a:solidFill>
                <a:latin typeface="Calibri"/>
              </a:defRPr>
            </a:pPr>
            <a:r>
              <a:t>Insert time series analysis showing: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Talen stock price trajectory ($60 → $389)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Revenue/EBITDA growth post-AWS deal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Market cap expansion ($3B → $17.6B)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Our company's projected financial trajectory overlay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09728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6.5x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Stock Appreciation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$650M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Cumulus Sale to AWS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310896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+$998M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Net Income Turnaround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11480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$17.6B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Current Market Cap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512064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AC758"/>
                </a:solidFill>
                <a:latin typeface="Calibri"/>
              </a:defRPr>
            </a:pPr>
            <a:r>
              <a:t>487%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Market Cap Growth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Operational &amp; Execution — Options 1 &amp;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228600"/>
            <a:ext cx="32004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RESOURCES &amp; 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4E42"/>
                </a:solidFill>
                <a:latin typeface="Calibri"/>
              </a:defRPr>
            </a:pPr>
            <a:r>
              <a:t>Option 1: Acquire DC — Execution Challenges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Detail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Integration complexity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Power gen ≠ DC operations — different teams, skills, culture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Capital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$4–6B requires 18–24 month fundraising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Talent acquisition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Need DC engineers, not power plant operators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Regulatory approvals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FERC, PUC, antitrust reviews: 6–12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4E42"/>
                </a:solidFill>
                <a:latin typeface="Calibri"/>
              </a:defRPr>
            </a:pPr>
            <a:r>
              <a:t>Option 2: Sale — Execution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46304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Detail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NRC license transfer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12–18 months, $10–20M legal costs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ESG backlash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Oil major ownership → ESG funds divest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PPA termination risk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AWS/Microsoft may exit nuclear PPAs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Employee/ops disruption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Cultural clash with oil major parent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3840480"/>
            <a:ext cx="10972800" cy="4572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EXECUTION VERDICT: Option 1 takes 18–24 months and requires unproven skills. Option 2 faces 12–18 month NRC review. Option 3 closes in 1–3 months.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371600" cy="54864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4572000"/>
            <a:ext cx="7315200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18–24 months  •  Fundraising → Acquisition →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303520"/>
            <a:ext cx="1371600" cy="54864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5303520"/>
            <a:ext cx="7315200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12–18 months  •  NRC Review → FERC → Antitrust → Close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035040"/>
            <a:ext cx="1371600" cy="54864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6035040"/>
            <a:ext cx="2286000" cy="548640"/>
          </a:xfrm>
          <a:prstGeom prst="round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1–3 months  •  Negotiate PPA → Sign → Revenue Starts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Option 3: Execution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148840" cy="594360"/>
          </a:xfrm>
          <a:prstGeom prst="round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1: Months 0–3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Negotiate &amp; Sign</a:t>
            </a:r>
            <a:br/>
            <a:r>
              <a:t>AWS PPA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600200" cy="411480"/>
          </a:xfrm>
          <a:prstGeom prst="round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PPA at $90–100/MWh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1,500–2,000 MW nuclear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20-year term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097280"/>
            <a:ext cx="2148840" cy="5943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2: Months 3–12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Develop DC</a:t>
            </a:r>
            <a:br/>
            <a:r>
              <a:t>Campus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783080"/>
            <a:ext cx="1600200" cy="411480"/>
          </a:xfrm>
          <a:prstGeom prst="round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$200–400M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100–200 MW IT capacity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Co-located with nuclear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AWS funds majority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097280"/>
            <a:ext cx="2148840" cy="59436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3: Months 12–18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Campus Sale</a:t>
            </a:r>
            <a:br/>
            <a:r>
              <a:t>to AWS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1783080"/>
            <a:ext cx="1600200" cy="411480"/>
          </a:xfrm>
          <a:prstGeom prst="round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+$750–900M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Net cash: +$350–500M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Talen precedent: $650M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Retain expansion rights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097280"/>
            <a:ext cx="2148840" cy="59436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4: Years 2–5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Expansion</a:t>
            </a:r>
            <a:br/>
            <a:r>
              <a:t>Rights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83080"/>
            <a:ext cx="1600200" cy="411480"/>
          </a:xfrm>
          <a:prstGeom prst="round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+$500M–1B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300–500 MW additional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Repeatable platform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Credit upgrade to BB+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1097280"/>
            <a:ext cx="2148840" cy="5943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Phase 5: Years 3–7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DC Acquisition</a:t>
            </a:r>
            <a:br/>
            <a:r>
              <a:t>Strategy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0" y="1783080"/>
            <a:ext cx="1600200" cy="411480"/>
          </a:xfrm>
          <a:prstGeom prst="roundRect">
            <a:avLst/>
          </a:prstGeom>
          <a:solidFill>
            <a:srgbClr val="FF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$250–530M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331720"/>
            <a:ext cx="2148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Acquire existing DCs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Talen Cumulus playbook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$750M–1.6B value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286000" y="1325880"/>
            <a:ext cx="228600" cy="228600"/>
          </a:xfrm>
          <a:prstGeom prst="rightArrow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4663440" y="1325880"/>
            <a:ext cx="228600" cy="228600"/>
          </a:xfrm>
          <a:prstGeom prst="rightArrow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7040880" y="1325880"/>
            <a:ext cx="228600" cy="228600"/>
          </a:xfrm>
          <a:prstGeom prst="rightArrow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9418320" y="1325880"/>
            <a:ext cx="228600" cy="228600"/>
          </a:xfrm>
          <a:prstGeom prst="rightArrow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74320" y="4023360"/>
            <a:ext cx="11430000" cy="50292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TOTAL 5-YEAR VALUE CREATION: $30B+ market cap growth  |  $1,156/share target  |  Investment: $450–930M → Returns: $2.0–3.6B+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4E42"/>
                </a:solidFill>
                <a:latin typeface="Calibri"/>
              </a:defRPr>
            </a:pPr>
            <a:r>
              <a:t>Validated by Talen Energy's Execution (Real Case)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274320" y="521208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Talen (Actual)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Plan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PPA + DC Sale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$650M Cumulus → AWS (Mar 2024)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$750–900M campus → AWS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Talen: ✓ Completed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DC Acquisitions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Acquired additional DCs post-deal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$250–530M acquisition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Talen: ✓ Expanding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Sensitivity Analysis — What Drives Value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0972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4E42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554480"/>
            <a:ext cx="39319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A4E42"/>
                </a:solidFill>
                <a:latin typeface="Calibri"/>
              </a:defRPr>
            </a:pPr>
            <a:r>
              <a:t>PPA Price = #1 Driver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323232"/>
                </a:solidFill>
                <a:latin typeface="Calibri"/>
              </a:defRPr>
            </a:pPr>
            <a:r>
              <a:t>$11B NPV swing ($75–$110/MWh). Run competitive bidding among AWS, Microsoft, Google.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651760"/>
            <a:ext cx="39319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A4E42"/>
                </a:solidFill>
                <a:latin typeface="Calibri"/>
              </a:defRPr>
            </a:pPr>
            <a:r>
              <a:t>Multiple Re-Rating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323232"/>
                </a:solidFill>
                <a:latin typeface="Calibri"/>
              </a:defRPr>
            </a:pPr>
            <a:r>
              <a:t>$7.7B swing. Talen precedent (28x) is our floor; 40x is achievable.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3749039"/>
            <a:ext cx="39319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A4E42"/>
                </a:solidFill>
                <a:latin typeface="Calibri"/>
              </a:defRPr>
            </a:pPr>
            <a:r>
              <a:t>Nuclear CF is Stable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323232"/>
                </a:solidFill>
                <a:latin typeface="Calibri"/>
              </a:defRPr>
            </a:pPr>
            <a:r>
              <a:t>92% CF is industry-proven. Lowest risk factor — nuclear is reliable.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846320"/>
            <a:ext cx="39319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A4E42"/>
                </a:solidFill>
                <a:latin typeface="Calibri"/>
              </a:defRPr>
            </a:pPr>
            <a:r>
              <a:t>WACC Sensitivity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323232"/>
                </a:solidFill>
                <a:latin typeface="Calibri"/>
              </a:defRPr>
            </a:pPr>
            <a:r>
              <a:t>Contracted PPA revenue reduces WACC over time (risk profile improves).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94960"/>
            <a:ext cx="10972800" cy="118872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FFF4DA"/>
                </a:solidFill>
                <a:latin typeface="Calibri"/>
              </a:defRPr>
            </a:pPr>
            <a:r>
              <a:t>Key Assumptions: WACC 7.68% (60/40 D/E, 8% CoD, 12% CoE)  |  PPA Base: $95/MWh  |  Term: 20 yrs  |  Nuclear CF: 92%  |  Tax: 40%  |  Escalator: 2%/yr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AFD480"/>
                </a:solidFill>
                <a:latin typeface="Calibri"/>
              </a:defRPr>
            </a:pPr>
            <a:r>
              <a:t>NPV Range: Low Case $5.8B  →  Base Case $12.0B  →  High Case $16.8B  |  Sources: Case PDF/Excel, Talen–AWS deal terms, EIA AEO 2024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Talen Energy — Execution Timeline (Real Case)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228600"/>
            <a:ext cx="3200400" cy="36576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REAL-WORLD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3152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5E9A66"/>
                </a:solidFill>
                <a:latin typeface="Calibri"/>
              </a:defRPr>
            </a:pPr>
            <a:r>
              <a:t>[TEAMMATE'S CHART — TALEN EXECUTION TIMELINE]</a:t>
            </a:r>
          </a:p>
          <a:p>
            <a:br/>
            <a:pPr algn="ctr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323232"/>
                </a:solidFill>
                <a:latin typeface="Calibri"/>
              </a:defRPr>
            </a:pPr>
            <a:r>
              <a:t>Insert execution analysis showing: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Talen's AWS deal timeline (negotiation → close → expansion)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Cumulus campus development milestones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Post-deal DC acquisitions (Cumulus Growth)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323232"/>
                </a:solidFill>
                <a:latin typeface="Calibri"/>
              </a:defRPr>
            </a:pPr>
            <a:r>
              <a:t>• Our proposed execution timeline overlay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09728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Mar 2024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Cumulus sold to AWS ($650M)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10312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Jul 2024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NASDAQ listing achieved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310896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2024–25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Additional DC acquisitions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11480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Through 2042+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Nuclear PPA with AWS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5120640"/>
            <a:ext cx="3474720" cy="86868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AC758"/>
                </a:solidFill>
                <a:latin typeface="Calibri"/>
              </a:defRPr>
            </a:pPr>
            <a:r>
              <a:t>Ongoing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Cumulus Growth expansion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Comparative Analysis — All Three Options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0" y="1097280"/>
            <a:ext cx="3931920" cy="1371600"/>
          </a:xfrm>
          <a:prstGeom prst="roundRect">
            <a:avLst/>
          </a:prstGeom>
          <a:solidFill>
            <a:srgbClr val="AFD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23232"/>
                </a:solidFill>
                <a:latin typeface="Calibri"/>
              </a:defRPr>
            </a:pPr>
            <a:r>
              <a:t>Option 1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400" b="1">
                <a:solidFill>
                  <a:srgbClr val="323232"/>
                </a:solidFill>
                <a:latin typeface="Calibri"/>
              </a:defRPr>
            </a:pPr>
            <a:r>
              <a:t>2.45/5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323232"/>
                </a:solidFill>
                <a:latin typeface="Calibri"/>
              </a:defRPr>
            </a:pPr>
            <a:r>
              <a:t>Acquire DC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743200"/>
            <a:ext cx="3931920" cy="1371600"/>
          </a:xfrm>
          <a:prstGeom prst="roundRect">
            <a:avLst/>
          </a:prstGeom>
          <a:solidFill>
            <a:srgbClr val="B0A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2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2.15/5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Sell to Oil Major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389120"/>
            <a:ext cx="3931920" cy="13716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Option 3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4.80/5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JV/PPA with AWS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94960"/>
            <a:ext cx="10972800" cy="118872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RECOMMENDATION: Option 3 — JV/PPA with AWS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FFF4DA"/>
                </a:solidFill>
                <a:latin typeface="Calibri"/>
              </a:defRPr>
            </a:pPr>
            <a:r>
              <a:t>Scores 4.80/5 across all criteria  |  Only option delivering +65% FCF growth + independence + proven precedent  |  Talen's 6.5x stock appreciation validates the strategy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Risk Assessment &amp; Mitigation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Risk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 Strategy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PPA negotiation fails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Low (20%)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Competitive bidding: AWS, Microsoft, Google, Meta all seeking nuclear power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FERC blocks BTM arrangement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Dual-track: Front-of-meter PPA as primary (no FERC approval needed); BTM as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plant outage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Low (10%)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92%+ capacity factor; dual-unit redundancy; force majeure clauses in PPA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PPA pricing below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Even $75/MWh = +$290M/yr vs merchant; floor price protections in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Dissident escalates before deal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 (35%)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Board seat offer; announce framework early to demonstrate progress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DC campus construction 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Campus is secondary — PPA revenue starts Day 1 regardless of campus timeline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5394960"/>
            <a:ext cx="10972800" cy="118872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RISK PROFILE: Even in worst-case scenarios, Option 3 generates significant value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FFF4DA"/>
                </a:solidFill>
                <a:latin typeface="Calibri"/>
              </a:defRPr>
            </a:pPr>
            <a:r>
              <a:t>Low case ($75/MWh PPA): +$290M/yr incremental revenue, $5.8B NPV  |  Talen faced greater risks (bankruptcy, OTC) and still succeeded  |  Our starting position is far stronger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ESG &amp; Sustainability — Strategic Advantage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914400"/>
          <a:ext cx="5943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4E42"/>
                </a:solidFill>
                <a:latin typeface="Calibri"/>
              </a:defRPr>
            </a:pPr>
            <a:r>
              <a:t>Hyperscaler Sustainability Mandates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5029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A4E42"/>
                </a:solidFill>
                <a:latin typeface="Calibri"/>
              </a:rPr>
              <a:t>AWS: </a:t>
            </a:r>
            <a:r>
              <a:rPr sz="900">
                <a:solidFill>
                  <a:srgbClr val="323232"/>
                </a:solidFill>
                <a:latin typeface="Calibri"/>
              </a:rPr>
              <a:t>Net-zero by 2040  |  100% RE by 2025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1">
                <a:solidFill>
                  <a:srgbClr val="5E9A66"/>
                </a:solidFill>
                <a:latin typeface="Calibri"/>
              </a:defRPr>
            </a:pPr>
            <a:r>
              <a:t>Power demand: 35+ GW needed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2148840"/>
            <a:ext cx="5029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A4E42"/>
                </a:solidFill>
                <a:latin typeface="Calibri"/>
              </a:rPr>
              <a:t>Microsoft: </a:t>
            </a:r>
            <a:r>
              <a:rPr sz="900">
                <a:solidFill>
                  <a:srgbClr val="323232"/>
                </a:solidFill>
                <a:latin typeface="Calibri"/>
              </a:rPr>
              <a:t>Carbon-negative by 2030  |  24/7 CFE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1">
                <a:solidFill>
                  <a:srgbClr val="5E9A66"/>
                </a:solidFill>
                <a:latin typeface="Calibri"/>
              </a:defRPr>
            </a:pPr>
            <a:r>
              <a:t>Power demand: 30+ GW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926080"/>
            <a:ext cx="5029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A4E42"/>
                </a:solidFill>
                <a:latin typeface="Calibri"/>
              </a:rPr>
              <a:t>Google: </a:t>
            </a:r>
            <a:r>
              <a:rPr sz="900">
                <a:solidFill>
                  <a:srgbClr val="323232"/>
                </a:solidFill>
                <a:latin typeface="Calibri"/>
              </a:rPr>
              <a:t>24/7 carbon-free by 2030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1">
                <a:solidFill>
                  <a:srgbClr val="5E9A66"/>
                </a:solidFill>
                <a:latin typeface="Calibri"/>
              </a:defRPr>
            </a:pPr>
            <a:r>
              <a:t>Power demand: 25+ GW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3703320"/>
            <a:ext cx="50292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3A4E42"/>
                </a:solidFill>
                <a:latin typeface="Calibri"/>
              </a:rPr>
              <a:t>Meta: </a:t>
            </a:r>
            <a:r>
              <a:rPr sz="900">
                <a:solidFill>
                  <a:srgbClr val="323232"/>
                </a:solidFill>
                <a:latin typeface="Calibri"/>
              </a:rPr>
              <a:t>Net-zero by 2030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1">
                <a:solidFill>
                  <a:srgbClr val="5E9A66"/>
                </a:solidFill>
                <a:latin typeface="Calibri"/>
              </a:defRPr>
            </a:pPr>
            <a:r>
              <a:t>Power demand: 15+ GW needed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12080"/>
            <a:ext cx="10972800" cy="13716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ESG Value Creation: $2–4B Over 5 Years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4DA"/>
                </a:solidFill>
                <a:latin typeface="Calibri"/>
              </a:defRPr>
            </a:pPr>
            <a:r>
              <a:t>+1–2x EV/EBITDA from ESG premium ($1.3–2.6B)  |  Green bond savings: $15–25M/yr  |  PPA premium: +$3–5/MWh ($36–60M/yr)  |  45Q CCUS credits: $85–350M/yr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900" b="1">
                <a:solidFill>
                  <a:srgbClr val="6AC758"/>
                </a:solidFill>
                <a:latin typeface="Calibri"/>
              </a:defRPr>
            </a:pPr>
            <a:r>
              <a:t>Option 2 DESTROYS ESG value: Oil major ownership → ESG fund divestment (15–25% of investor base lost)  |  Option 3 CREATES ESG premium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CCUS Integration — Gas Fleet Value Unlock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50292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0" y="1097280"/>
          <a:ext cx="5943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45Q Credits/yr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Capex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1: Pilot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800 MW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$85M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$400M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2027–29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2: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2,000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$210M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$900M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2029–31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3: Full Fleet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3,500 MW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$350M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$1.5B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2031–34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6,300 MW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$350M/yr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$2.8B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2027–34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14800"/>
            <a:ext cx="1097280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A4E42"/>
                </a:solidFill>
                <a:latin typeface="Calibri"/>
              </a:defRPr>
            </a:pPr>
            <a:r>
              <a:t>Why CCUS Creates an Unbeatable Competitive Moat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4754880"/>
          <a:ext cx="106070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Offering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Carbon Intensity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>
                    <a:solidFill>
                      <a:srgbClr val="5E9A6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(2,200 MW)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0 lb CO₂/MWh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92% CF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Gas + CCUS (6,500 MW)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~72 lb CO₂/MWh (90% capture)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Dispatchable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Combined Fleet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~15 lb CO₂/MWh blended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99.9% reliability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217920"/>
            <a:ext cx="10972800" cy="457200"/>
          </a:xfrm>
          <a:prstGeom prst="round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24/7 NEAR-ZERO CARBON: Nuclear + CCUS Gas = Only IPP offering true 24/7 carbon-free energy in PJM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A4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Nuclear Regulatory &amp; Risk Management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Regulatory Body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Concern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Risk Level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Solution</a:t>
                      </a:r>
                    </a:p>
                  </a:txBody>
                  <a:tcPr>
                    <a:solidFill>
                      <a:srgbClr val="3A4E4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NRC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License amendment for co-located DC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Low–Medium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No change needed for front-of-meter PPA; BTM has Talen precedent (approved)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FERC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BTM load reduces grid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Front-of-meter PPA as primary (no approval needed); Talen–AWS survived FERC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State PUC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Siting permits for DC campus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A4E42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Nuclear sites have industrial zoning; PA PUC approved Talen campus</a:t>
                      </a:r>
                    </a:p>
                  </a:txBody>
                  <a:tcPr>
                    <a:solidFill>
                      <a:srgbClr val="E9E3D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PJM 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Capacity obligation if BTM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E9A66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323232"/>
                          </a:solidFill>
                          <a:latin typeface="Calibri"/>
                        </a:defRPr>
                      </a:pPr>
                      <a:r>
                        <a:t>Maintain FoM PPA to preserve capacity revenue; replace with gas fleet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4E42"/>
                </a:solidFill>
                <a:latin typeface="Calibri"/>
              </a:defRPr>
            </a:pPr>
            <a:r>
              <a:t>Dual-Track Regulatory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5303520" cy="914400"/>
          </a:xfrm>
          <a:prstGeom prst="roundRect">
            <a:avLst/>
          </a:prstGeom>
          <a:solidFill>
            <a:srgbClr val="6AC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Track A: Front-of-Meter PPA (PRIMARY — LOW RISK)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Sells via PJM grid  →  No FERC approval  →  Preserves capacity revenue  →  Standard bilateral PPA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5303520" cy="914400"/>
          </a:xfrm>
          <a:prstGeom prst="roundRect">
            <a:avLst/>
          </a:prstGeom>
          <a:solidFill>
            <a:srgbClr val="5E9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Track B: Behind-the-Meter (BACKUP — HIGHER VALUE)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900" b="0">
                <a:solidFill>
                  <a:srgbClr val="FFFFFF"/>
                </a:solidFill>
                <a:latin typeface="Calibri"/>
              </a:defRPr>
            </a:pPr>
            <a:r>
              <a:t>Direct power delivery  →  NRC 10 CFR 50.90 amendment  →  Saves $10–15/MWh transmission  →  Talen precedent exists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4E42"/>
                </a:solidFill>
                <a:latin typeface="Calibri"/>
              </a:defRPr>
            </a:pPr>
            <a:r>
              <a:t>Key Regulatory Advantages (vs Options 1 &amp; 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97680"/>
            <a:ext cx="5303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A4E42"/>
                </a:solidFill>
                <a:latin typeface="Calibri"/>
              </a:rPr>
              <a:t>✓ No NRC License Transfer: </a:t>
            </a:r>
            <a:r>
              <a:rPr sz="800">
                <a:solidFill>
                  <a:srgbClr val="323232"/>
                </a:solidFill>
                <a:latin typeface="Calibri"/>
              </a:rPr>
              <a:t>Option 2 requires full NRC transfer (12–18 months, $10–20M). Option 3: we retain ownership — no transfer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956048"/>
            <a:ext cx="5303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A4E42"/>
                </a:solidFill>
                <a:latin typeface="Calibri"/>
              </a:rPr>
              <a:t>✓ No Antitrust Review: </a:t>
            </a:r>
            <a:r>
              <a:rPr sz="800">
                <a:solidFill>
                  <a:srgbClr val="323232"/>
                </a:solidFill>
                <a:latin typeface="Calibri"/>
              </a:rPr>
              <a:t>Option 1's $4–6B acquisition triggers HSR Act review. Option 3: bilateral PPA, no concentration concerns.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614416"/>
            <a:ext cx="5303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A4E42"/>
                </a:solidFill>
                <a:latin typeface="Calibri"/>
              </a:rPr>
              <a:t>✓ FERC De-Risked: </a:t>
            </a:r>
            <a:r>
              <a:rPr sz="800">
                <a:solidFill>
                  <a:srgbClr val="323232"/>
                </a:solidFill>
                <a:latin typeface="Calibri"/>
              </a:rPr>
              <a:t>Front-of-meter PPA is standard bilateral trade. BTM is backup only — Talen precedent exists. Minimal regulatory friction.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6272784"/>
            <a:ext cx="530352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9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A4E42"/>
                </a:solidFill>
                <a:latin typeface="Calibri"/>
              </a:rPr>
              <a:t>✓ Speed to Close: </a:t>
            </a:r>
            <a:r>
              <a:rPr sz="800">
                <a:solidFill>
                  <a:srgbClr val="323232"/>
                </a:solidFill>
                <a:latin typeface="Calibri"/>
              </a:rPr>
              <a:t>Option 3 closes in 1–3 months. Revenue starts flowing immediately while campus develops in parallel.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