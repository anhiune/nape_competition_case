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We're presenting our strategic recommendation for an IPP facing a 9% dissident investor. Our recommendation: Execute a JV/PPA with AWS, modeled on Talen Energy's transformative partnership.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company is a $20B IPP with 13,000 MW in PJM — virtually identical to Talen Energy. Talen sold its Cumulus data center campus to AWS for $650M, signed a 20-year nuclear PPA, and stock went from $60 to $389. The parallels are striking: same market, same fuel mix, same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1: $4–6B acquisition is prohibitively expensive. Dilutive for Years 1–2, threatens BB credit rating.</a:t>
            </a:r>
          </a:p>
          <a:p>
            <a:r>
              <a:t>Option 2: Shareholders get 20–30% premium but company dies. Zero future upside, ESG backlash, hyperscalers may cancel PPAs.</a:t>
            </a:r>
          </a:p>
          <a:p>
            <a:r>
              <a:t>Neither option captures the AI premium our nuclear assets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3 — JV/PPA with AWS. Modeled on Talen's March 2024 deal.</a:t>
            </a:r>
          </a:p>
          <a:p>
            <a:r>
              <a:t>PPA at $90-100/MWh (vs $51 merchant). +$513M/yr incremental revenue. FCF goes from $10.20 to $16.87/share (+65%).</a:t>
            </a:r>
          </a:p>
          <a:p>
            <a:r>
              <a:t>Only $200-400M investment, funded from cash. Zero dilution. Preserves independence.</a:t>
            </a:r>
          </a:p>
          <a:p>
            <a:r>
              <a:t>Pros clearly outweigh cons: the downside risks are manageable (FERC has Talen precedent, single-partner risk mitigated by competitive bidding). The upside is transformative.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Nuclear revenue jumps from $637M (merchant at $51/MWh) to $1,150M (PPA at $95/MWh).</a:t>
            </a:r>
          </a:p>
          <a:p>
            <a:r>
              <a:t>Right: FCF/share goes from $10.20 to $16.87 in Year 1 — 65% growth, far exceeding the dissident's 30% target.</a:t>
            </a:r>
          </a:p>
          <a:p>
            <a:r>
              <a:t>Bottom: 5-year shareholder value trajectory shows Option 3 reaching $52B market cap by Year 5 vs $32B for Option 1 and flat $24B for Option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Teammate inserts Talen Energy time series analysis: stock trajectory ($60→$389), revenue/EBITDA growth post-AWS deal, market cap expansion ($3B→$17.6B), and our company's projected overlay.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1: Integration complexity is extreme — power gen and data centers are different businesses. $4–6B fundraising takes 18–24 months.</a:t>
            </a:r>
          </a:p>
          <a:p>
            <a:r>
              <a:t>Option 2: NRC license transfer alone takes 12–18 months and costs $10–20M. ESG funds would divest.</a:t>
            </a:r>
          </a:p>
          <a:p>
            <a:r>
              <a:t>Option 3 closes in 1–3 months — it's a bilateral PPA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5-phase execution roadmap:</a:t>
            </a:r>
          </a:p>
          <a:p>
            <a:r>
              <a:t>Phase 1 (Months 0–3): Bilateral PPA with AWS. No regulatory approval needed for front-of-meter. Revenue starts.</a:t>
            </a:r>
          </a:p>
          <a:p>
            <a:r>
              <a:t>Phase 2 (Months 3–12): DC campus development. $200–400M, AWS funds majority.</a:t>
            </a:r>
          </a:p>
          <a:p>
            <a:r>
              <a:t>Phase 3 (Months 12–18): Campus sale to AWS for $750–900M. Talen got $650M for smaller campus.</a:t>
            </a:r>
          </a:p>
          <a:p>
            <a:r>
              <a:t>Phase 4 (Years 2–5): Exercise expansion rights. Add 300–500 MW.</a:t>
            </a:r>
          </a:p>
          <a:p>
            <a:r>
              <a:t>Phase 5 (Years 3–7): Acquire DCs near power plants, following Talen's Cumulus Growth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PPA Price is the #1 value driver — $11B NPV swing between $75 and $110/MWh. This is why we run competitive bidding.</a:t>
            </a:r>
          </a:p>
          <a:p>
            <a:r>
              <a:t>Multiple re-rating is #2 — Talen trades at 28x, which is our floor.</a:t>
            </a:r>
          </a:p>
          <a:p>
            <a:r>
              <a:t>Even in the worst case ($75/MWh), Option 3 still generates $5.8B NPV.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Teammate inserts Talen execution timeline: deal negotiation through close, Cumulus campus development, post-deal DC acquisitions through Cumulus Growth subsidiary.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Weighted decision matrix: Option 1 scores 2.45/5, Option 2 scores 2.15/5, Option 3 scores 4.80/5.</a:t>
            </a:r>
          </a:p>
          <a:p>
            <a:r>
              <a:t>Option 3 dominates every criterion: FCF growth (5/5), multiple expansion (5/5), execution feasibility (4/5), shareholder value (5/5), independence (5/5), satisfies dissident (5/5).</a:t>
            </a:r>
          </a:p>
          <a:p>
            <a:r>
              <a:t>The radar chart visually shows Option 3's complete dominance across all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risks and mitigations. Most important: PPA negotiation failure (20% prob) — mitigated by competitive bidding among 4 hyperscalers.</a:t>
            </a:r>
          </a:p>
          <a:p>
            <a:r>
              <a:t>FERC risk mitigated by using front-of-meter PPA as primary track (no approval needed).</a:t>
            </a:r>
          </a:p>
          <a:p>
            <a:r>
              <a:t>Even in worst case, Option 3 generates +$290M/yr and $5.8B NPV. Talen faced far greater risks (bankruptcy, OTC listing) and still succeeded.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Nuclear = 0g CO2/MWh. Option 3 aligns perfectly with hyperscaler sustainability mandates.</a:t>
            </a:r>
          </a:p>
          <a:p>
            <a:r>
              <a:t>AWS, Microsoft, Google all have aggressive carbon-free targets and need 100+ GW of clean power.</a:t>
            </a:r>
          </a:p>
          <a:p>
            <a:r>
              <a:t>ESG value: $2–4B over 5 years from multiple premium, green bonds, 45Q credits.</a:t>
            </a:r>
          </a:p>
          <a:p>
            <a:r>
              <a:t>Option 2 destroys ESG value — oil major ownership causes ESG fund divestment.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CCUS adds $28/MWh to gas generation through 45Q credits, carbon cost avoidance, and premium PPA pricing.</a:t>
            </a:r>
          </a:p>
          <a:p>
            <a:r>
              <a:t>3-phase deployment: pilot (800 MW), scale (2,000 MW), full fleet (3,500 MW). Total: $2.8B capex, $350M/yr in credits.</a:t>
            </a:r>
          </a:p>
          <a:p>
            <a:r>
              <a:t>Combined nuclear + CCUS gas = only IPP in PJM offering true 24/7 near-zero carbon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Dual-track regulatory strategy:</a:t>
            </a:r>
          </a:p>
          <a:p>
            <a:r>
              <a:t>Track A (Primary): Front-of-meter PPA — standard bilateral trade, no regulatory approval needed.</a:t>
            </a:r>
          </a:p>
          <a:p>
            <a:r>
              <a:t>Track B (Backup): Behind-the-meter — higher value but requires NRC amendment. Talen precedent exists.</a:t>
            </a:r>
          </a:p>
          <a:p>
            <a:r>
              <a:t>Key advantage: Option 3 avoids the 12–18 month NRC license transfer (Option 2) and the antitrust review (Option 1). Closes in 1–3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4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E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274320"/>
            <a:ext cx="1097280" cy="1097280"/>
          </a:xfrm>
          <a:prstGeom prst="ellipse">
            <a:avLst/>
          </a:prstGeom>
          <a:solidFill>
            <a:srgbClr val="AFD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0"/>
            <a:ext cx="548640" cy="548640"/>
          </a:xfrm>
          <a:prstGeom prst="ellipse">
            <a:avLst/>
          </a:prstGeom>
          <a:solidFill>
            <a:srgbClr val="5E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FD480"/>
                </a:solidFill>
                <a:latin typeface="Calibri"/>
              </a:defRPr>
            </a:pPr>
            <a:r>
              <a:t>2026 SMU Cox NAPE Energy Innovation Case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Strategic Response to</a:t>
            </a:r>
            <a:br/>
            <a:r>
              <a:t>Dissident Investor Activism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4DA"/>
                </a:solidFill>
                <a:latin typeface="Calibri"/>
              </a:defRPr>
            </a:pPr>
            <a:r>
              <a:t>JV/PPA with AWS  |  Nuclear-Powered Data Center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7315200" cy="38100"/>
          </a:xfrm>
          <a:prstGeom prst="rect">
            <a:avLst/>
          </a:prstGeom>
          <a:solidFill>
            <a:srgbClr val="AFD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FD480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46320"/>
            <a:ext cx="2743200" cy="502920"/>
          </a:xfrm>
          <a:prstGeom prst="roundRect">
            <a:avLst/>
          </a:prstGeom>
          <a:solidFill>
            <a:srgbClr val="5E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Anh Bui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846320"/>
            <a:ext cx="2743200" cy="502920"/>
          </a:xfrm>
          <a:prstGeom prst="roundRect">
            <a:avLst/>
          </a:prstGeom>
          <a:solidFill>
            <a:srgbClr val="5E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Cuong Nguyen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846320"/>
            <a:ext cx="2743200" cy="502920"/>
          </a:xfrm>
          <a:prstGeom prst="roundRect">
            <a:avLst/>
          </a:prstGeom>
          <a:solidFill>
            <a:srgbClr val="5E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Minh Nguyen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A599"/>
                </a:solidFill>
                <a:latin typeface="Calibri"/>
              </a:defRPr>
            </a:pPr>
            <a:r>
              <a:t>February 18, 2026  |  Finals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AC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Company Background &amp; Real-World Precedent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4E42"/>
                </a:solidFill>
                <a:latin typeface="Calibri"/>
              </a:defRPr>
            </a:pPr>
            <a:r>
              <a:t>OUR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•  13,000 MW total capacity (Nuclear + Gas + Coal)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•  2,200 MW nuclear plant — PJM 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•  $20B market cap  |  45M shares  |  $444/share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•  30x EV/EBITDA  |  BB credit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•  9% dissident investor → 10% = special meeting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•  Target: 30% Adj FCF/share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4E42"/>
                </a:solidFill>
                <a:latin typeface="Calibri"/>
              </a:defRPr>
            </a:pPr>
            <a:r>
              <a:t>REAL CASE: TALEN ENERGY (TLN)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•  13,100 MW capacity — nearly identical fleet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•  2,500 MW Susquehanna nuclear — PJM RTO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•  Sold Cumulus DC to AWS for $650M (Mar 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•  20-year nuclear PPA with AWS through 2042+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•  Stock: $60 → $389 — 6.5x appreciation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•  Market cap: $3B → $17.6B post-deal</a:t>
            </a:r>
          </a:p>
        </p:txBody>
      </p:sp>
      <p:pic>
        <p:nvPicPr>
          <p:cNvPr id="18" name="Picture 17" descr="fig_talen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97680"/>
            <a:ext cx="10972800" cy="43248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 &amp; Financial — Options 1 &amp;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457200"/>
          </a:xfrm>
          <a:prstGeom prst="roundRect">
            <a:avLst/>
          </a:prstGeom>
          <a:solidFill>
            <a:srgbClr val="5E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WHY WE 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4E42"/>
                </a:solidFill>
                <a:latin typeface="Calibri"/>
              </a:defRPr>
            </a:pPr>
            <a:r>
              <a:t>Option 1: Acquire Data Center ($4–6B)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✓  PROS</a:t>
                      </a:r>
                    </a:p>
                  </a:txBody>
                  <a:tcPr>
                    <a:solidFill>
                      <a:srgbClr val="5E9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✗  CONS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Full value chain control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$4–6B cost → massive debt/dilution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Multiple expansion potential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Dilutive to FCF/share Years 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Direct AI/DC exposure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No IPP has done this successfully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Revenue diversification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Integration risk (power ≠ DCs)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Strategic optionality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BB rating at risk of downgrade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4E42"/>
                </a:solidFill>
                <a:latin typeface="Calibri"/>
              </a:defRPr>
            </a:pPr>
            <a:r>
              <a:t>Option 2: Sell to Shell/ExxonMobil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64592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✓  PROS</a:t>
                      </a:r>
                    </a:p>
                  </a:txBody>
                  <a:tcPr>
                    <a:solidFill>
                      <a:srgbClr val="5E9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✗  CONS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Immediate 20–30% premium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Company ceases to exist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Satisfies dissident with exit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0% FCF growth — no upside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Certain value realization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ESG funds divest (oil major)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De-risks shareholders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Hyperscalers may cancel PPAs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No execution risk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NRC transfer: 12–18 months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480560"/>
            <a:ext cx="10972800" cy="54864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VERDICT: Option 1 too expensive ($4–6B) and dilutive.  Option 2 destroys long-term value.  Neither unlocks the AI premium.</a:t>
            </a:r>
          </a:p>
        </p:txBody>
      </p:sp>
      <p:pic>
        <p:nvPicPr>
          <p:cNvPr id="10" name="Picture 9" descr="fig_option1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212080"/>
            <a:ext cx="5669280" cy="2234481"/>
          </a:xfrm>
          <a:prstGeom prst="rect">
            <a:avLst/>
          </a:prstGeom>
        </p:spPr>
      </p:pic>
      <p:pic>
        <p:nvPicPr>
          <p:cNvPr id="11" name="Picture 10" descr="fig_option2_prem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5212080"/>
            <a:ext cx="5669280" cy="22344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Option 3: JV/PPA with AWS — Our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457200"/>
          </a:xfrm>
          <a:prstGeom prst="roundRect">
            <a:avLst/>
          </a:prstGeom>
          <a:solidFill>
            <a:srgbClr val="5E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RECOMMENDED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4E42"/>
                </a:solidFill>
                <a:latin typeface="Calibri"/>
              </a:defRPr>
            </a:pPr>
            <a:r>
              <a:t>Deal Structure (Talen Playbook)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5E9A66"/>
                </a:solidFill>
                <a:latin typeface="Calibri"/>
              </a:rPr>
              <a:t>PPA Partner: </a:t>
            </a:r>
            <a:r>
              <a:rPr sz="1300">
                <a:solidFill>
                  <a:srgbClr val="323232"/>
                </a:solidFill>
                <a:latin typeface="Calibri"/>
              </a:rPr>
              <a:t>Amazon Web Services (AWS)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5E9A66"/>
                </a:solidFill>
                <a:latin typeface="Calibri"/>
              </a:rPr>
              <a:t>Capacity: </a:t>
            </a:r>
            <a:r>
              <a:rPr sz="1300">
                <a:solidFill>
                  <a:srgbClr val="323232"/>
                </a:solidFill>
                <a:latin typeface="Calibri"/>
              </a:rPr>
              <a:t>1,500–2,000 MW nuclear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1401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5E9A66"/>
                </a:solidFill>
                <a:latin typeface="Calibri"/>
              </a:rPr>
              <a:t>Price: </a:t>
            </a:r>
            <a:r>
              <a:rPr sz="1300">
                <a:solidFill>
                  <a:srgbClr val="323232"/>
                </a:solidFill>
                <a:latin typeface="Calibri"/>
              </a:rPr>
              <a:t>$90–100/MWh (vs $51 merchant) → +86%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9806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5E9A66"/>
                </a:solidFill>
                <a:latin typeface="Calibri"/>
              </a:rPr>
              <a:t>Duration: </a:t>
            </a:r>
            <a:r>
              <a:rPr sz="1300">
                <a:solidFill>
                  <a:srgbClr val="323232"/>
                </a:solidFill>
                <a:latin typeface="Calibri"/>
              </a:rPr>
              <a:t>20 years (2026–2046)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821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5E9A66"/>
                </a:solidFill>
                <a:latin typeface="Calibri"/>
              </a:rPr>
              <a:t>Investment: </a:t>
            </a:r>
            <a:r>
              <a:rPr sz="1300">
                <a:solidFill>
                  <a:srgbClr val="323232"/>
                </a:solidFill>
                <a:latin typeface="Calibri"/>
              </a:rPr>
              <a:t>$200–400M (from cash — ZERO dilution)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5E9A66"/>
                </a:solidFill>
                <a:latin typeface="Calibri"/>
              </a:rPr>
              <a:t>DC Campus: </a:t>
            </a:r>
            <a:r>
              <a:rPr sz="1300">
                <a:solidFill>
                  <a:srgbClr val="323232"/>
                </a:solidFill>
                <a:latin typeface="Calibri"/>
              </a:rPr>
              <a:t>100–200 MW IT → sale to AWS $750–900M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4E42"/>
                </a:solidFill>
                <a:latin typeface="Calibri"/>
              </a:defRPr>
            </a:pPr>
            <a:r>
              <a:t>Why Pros Outweigh Cons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0" y="164592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✓  PROS (11)</a:t>
                      </a:r>
                    </a:p>
                  </a:txBody>
                  <a:tcPr>
                    <a:solidFill>
                      <a:srgbClr val="5E9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✗  CONS (6)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+65% FCF growth (vs 30% target)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Concentrated on single partner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$200M cost vs $4–6B (Option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PPA locks in price (upside 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Proven by Talen: 6.5x stock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FERC scrutiny on BTM arrangement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Zero equity dilution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Nuclear ops risk during transition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Preserves independence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DC campus construction timeline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Satisfies dissident immediately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DC acquisition integration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5212080"/>
            <a:ext cx="2606040" cy="1371600"/>
          </a:xfrm>
          <a:prstGeom prst="round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FD480"/>
                </a:solidFill>
                <a:latin typeface="Calibri"/>
              </a:defRPr>
            </a:pPr>
            <a:r>
              <a:t>Year 1 FCF</a:t>
            </a:r>
          </a:p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+65%</a:t>
            </a:r>
          </a:p>
          <a:p>
            <a:pPr algn="ctr">
              <a:defRPr sz="1000">
                <a:solidFill>
                  <a:srgbClr val="FFF4DA"/>
                </a:solidFill>
                <a:latin typeface="Calibri"/>
              </a:defRPr>
            </a:pPr>
            <a:r>
              <a:t>$10.20 → $16.87/sh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5212080"/>
            <a:ext cx="2606040" cy="1371600"/>
          </a:xfrm>
          <a:prstGeom prst="round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FD480"/>
                </a:solidFill>
                <a:latin typeface="Calibri"/>
              </a:defRPr>
            </a:pPr>
            <a:r>
              <a:t>Revenue</a:t>
            </a:r>
          </a:p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+$513M/yr</a:t>
            </a:r>
          </a:p>
          <a:p>
            <a:pPr algn="ctr">
              <a:defRPr sz="1000">
                <a:solidFill>
                  <a:srgbClr val="FFF4DA"/>
                </a:solidFill>
                <a:latin typeface="Calibri"/>
              </a:defRPr>
            </a:pPr>
            <a:r>
              <a:t>PPA incremental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212080"/>
            <a:ext cx="2606040" cy="1371600"/>
          </a:xfrm>
          <a:prstGeom prst="round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FD480"/>
                </a:solidFill>
                <a:latin typeface="Calibri"/>
              </a:defRPr>
            </a:pPr>
            <a:r>
              <a:t>Market Cap</a:t>
            </a:r>
          </a:p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$32B</a:t>
            </a:r>
          </a:p>
          <a:p>
            <a:pPr algn="ctr">
              <a:defRPr sz="1000">
                <a:solidFill>
                  <a:srgbClr val="FFF4DA"/>
                </a:solidFill>
                <a:latin typeface="Calibri"/>
              </a:defRPr>
            </a:pPr>
            <a:r>
              <a:t>from $20B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5212080"/>
            <a:ext cx="2606040" cy="1371600"/>
          </a:xfrm>
          <a:prstGeom prst="round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FD480"/>
                </a:solidFill>
                <a:latin typeface="Calibri"/>
              </a:defRPr>
            </a:pPr>
            <a:r>
              <a:t>Share Price</a:t>
            </a:r>
          </a:p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$711/sh</a:t>
            </a:r>
          </a:p>
          <a:p>
            <a:pPr algn="ctr">
              <a:defRPr sz="1000">
                <a:solidFill>
                  <a:srgbClr val="FFF4DA"/>
                </a:solidFill>
                <a:latin typeface="Calibri"/>
              </a:defRPr>
            </a:pPr>
            <a:r>
              <a:t>from $444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Option 3 — Revenue &amp; FCF Impact</a:t>
            </a:r>
          </a:p>
        </p:txBody>
      </p:sp>
      <p:pic>
        <p:nvPicPr>
          <p:cNvPr id="4" name="Picture 3" descr="fig_option3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760720" cy="2269375"/>
          </a:xfrm>
          <a:prstGeom prst="rect">
            <a:avLst/>
          </a:prstGeom>
        </p:spPr>
      </p:pic>
      <p:pic>
        <p:nvPicPr>
          <p:cNvPr id="5" name="Picture 4" descr="fig_option3_f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760720" cy="2273968"/>
          </a:xfrm>
          <a:prstGeom prst="rect">
            <a:avLst/>
          </a:prstGeom>
        </p:spPr>
      </p:pic>
      <p:pic>
        <p:nvPicPr>
          <p:cNvPr id="6" name="Picture 5" descr="fig_shareholder_va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11430000" cy="45141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Talen Energy — Financial Transformation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457200"/>
          </a:xfrm>
          <a:prstGeom prst="roundRect">
            <a:avLst/>
          </a:prstGeom>
          <a:solidFill>
            <a:srgbClr val="5E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REAL-WORLD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0972800" cy="5486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E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E9A66"/>
                </a:solidFill>
                <a:latin typeface="Calibri"/>
              </a:defRPr>
            </a:pPr>
            <a:r>
              <a:t>[ TEAMMATE'S CHART — Talen Financial Time Series</a:t>
            </a:r>
            <a:br/>
            <a:br/>
            <a:r>
              <a:t>Insert: Stock price trajectory, Revenue/EBITDA growth,</a:t>
            </a:r>
            <a:br/>
            <a:r>
              <a:t>Market cap expansion ($3B → $17.6B)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Operational &amp; Execution — Options 1 &amp;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457200"/>
          </a:xfrm>
          <a:prstGeom prst="roundRect">
            <a:avLst/>
          </a:prstGeom>
          <a:solidFill>
            <a:srgbClr val="5E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RESOURCES &amp;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4E42"/>
                </a:solidFill>
                <a:latin typeface="Calibri"/>
              </a:defRPr>
            </a:pPr>
            <a:r>
              <a:t>Option 1: Acquire DC — Execution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Integration complexity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Power gen ≠ DC operations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Capital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$4–6B — 18–24 month fundraise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Talent gap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Need DC engineers, not plant ops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Regulatory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FERC, PUC, antitrust: 6–12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4E42"/>
                </a:solidFill>
                <a:latin typeface="Calibri"/>
              </a:defRPr>
            </a:pPr>
            <a:r>
              <a:t>Option 2: Sale — Execution Risks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64592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NRC license transfer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12–18 months, $10–20M legal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ESG backlash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Oil major → ESG funds divest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PPA termination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AWS/MSFT may exit nuclear PPAs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Culture clash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Oil major parent disruption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Option 1: 18–24 months  |  Option 2: 12–18 months  |  Option 3: 1–3 months to close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937760"/>
            <a:ext cx="1371600" cy="502920"/>
          </a:xfrm>
          <a:prstGeom prst="round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Option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4937760"/>
            <a:ext cx="868680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18–24 months — Fundraise → Acquire → Integrate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532120"/>
            <a:ext cx="1371600" cy="502920"/>
          </a:xfrm>
          <a:prstGeom prst="round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Option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5532120"/>
            <a:ext cx="731520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12–18 months — NRC Review → FERC → Antitrust → Close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6126480"/>
            <a:ext cx="1371600" cy="502920"/>
          </a:xfrm>
          <a:prstGeom prst="round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Option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6126480"/>
            <a:ext cx="2743200" cy="502920"/>
          </a:xfrm>
          <a:prstGeom prst="roundRect">
            <a:avLst/>
          </a:prstGeom>
          <a:solidFill>
            <a:srgbClr val="6AC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1–3 months — Negotiate PPA → Sign → Revenue Starts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Option 3 — Execution Roadmap</a:t>
            </a:r>
          </a:p>
        </p:txBody>
      </p:sp>
      <p:pic>
        <p:nvPicPr>
          <p:cNvPr id="4" name="Picture 3" descr="fig_regulatory_dual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430000" cy="442671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93192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 Created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Month 0–3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Negotiate &amp; Sign AWS PPA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+$513M/yr revenue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Month 3–12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Develop DC 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$200–400M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100–200 MW IT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Month 12–18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Campus Sale to AWS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+$750–900M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Net cash +$350–500M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Phase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Year 2–5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Expansion Rights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+$500M–1B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300–500 MW additional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Phase 5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Year 3–7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DC Acquisitions (Talen)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$250–530M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$750M–1.6B value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Sensitivity Analysis — What Drives Value</a:t>
            </a:r>
          </a:p>
        </p:txBody>
      </p:sp>
      <p:pic>
        <p:nvPicPr>
          <p:cNvPr id="4" name="Picture 3" descr="fig_tornado_op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4E42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45920"/>
            <a:ext cx="41148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A4E42"/>
                </a:solidFill>
                <a:latin typeface="Calibri"/>
              </a:defRPr>
            </a:pPr>
            <a:r>
              <a:t>PPA Price = #1 Driver</a:t>
            </a:r>
          </a:p>
          <a:p>
            <a:pPr>
              <a:defRPr sz="1100">
                <a:solidFill>
                  <a:srgbClr val="323232"/>
                </a:solidFill>
                <a:latin typeface="Calibri"/>
              </a:defRPr>
            </a:pPr>
            <a:r>
              <a:t>$11B NPV swing. Run competitive bidding among AWS, MSFT, Google.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926080"/>
            <a:ext cx="41148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A4E42"/>
                </a:solidFill>
                <a:latin typeface="Calibri"/>
              </a:defRPr>
            </a:pPr>
            <a:r>
              <a:t>Multiple Re-Rating</a:t>
            </a:r>
          </a:p>
          <a:p>
            <a:pPr>
              <a:defRPr sz="1100">
                <a:solidFill>
                  <a:srgbClr val="323232"/>
                </a:solidFill>
                <a:latin typeface="Calibri"/>
              </a:defRPr>
            </a:pPr>
            <a:r>
              <a:t>$7.7B swing. Talen 28x is our floor; 40x achievable.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4206240"/>
            <a:ext cx="41148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A4E42"/>
                </a:solidFill>
                <a:latin typeface="Calibri"/>
              </a:defRPr>
            </a:pPr>
            <a:r>
              <a:t>Nuclear CF Stable</a:t>
            </a:r>
          </a:p>
          <a:p>
            <a:pPr>
              <a:defRPr sz="1100">
                <a:solidFill>
                  <a:srgbClr val="323232"/>
                </a:solidFill>
                <a:latin typeface="Calibri"/>
              </a:defRPr>
            </a:pPr>
            <a:r>
              <a:t>92%+ CF industry-proven. Lowest-risk input.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5486399"/>
            <a:ext cx="41148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A4E42"/>
                </a:solidFill>
                <a:latin typeface="Calibri"/>
              </a:defRPr>
            </a:pPr>
            <a:r>
              <a:t>Even Low Case Wins</a:t>
            </a:r>
          </a:p>
          <a:p>
            <a:pPr>
              <a:defRPr sz="1100">
                <a:solidFill>
                  <a:srgbClr val="323232"/>
                </a:solidFill>
                <a:latin typeface="Calibri"/>
              </a:defRPr>
            </a:pPr>
            <a:r>
              <a:t>$75/MWh → +$290M/yr vs merchant. $5.8B NPV.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Talen Energy — Execution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182880"/>
            <a:ext cx="3200400" cy="457200"/>
          </a:xfrm>
          <a:prstGeom prst="roundRect">
            <a:avLst/>
          </a:prstGeom>
          <a:solidFill>
            <a:srgbClr val="5E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REAL-WORLD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0972800" cy="5486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E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E9A66"/>
                </a:solidFill>
                <a:latin typeface="Calibri"/>
              </a:defRPr>
            </a:pPr>
            <a:r>
              <a:t>[ TEAMMATE'S CHART — Talen Execution Timeline</a:t>
            </a:r>
            <a:br/>
            <a:br/>
            <a:r>
              <a:t>Insert: Deal timeline (negotiation → close → expansion),</a:t>
            </a:r>
            <a:br/>
            <a:r>
              <a:t>Cumulus campus milestones, post-deal DC acquisitions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Comparative Analysis — All Three Options</a:t>
            </a:r>
          </a:p>
        </p:txBody>
      </p:sp>
      <p:pic>
        <p:nvPicPr>
          <p:cNvPr id="4" name="Picture 3" descr="fig_three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2943268"/>
          </a:xfrm>
          <a:prstGeom prst="rect">
            <a:avLst/>
          </a:prstGeom>
        </p:spPr>
      </p:pic>
      <p:pic>
        <p:nvPicPr>
          <p:cNvPr id="5" name="Picture 4" descr="fig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530352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6126480"/>
            <a:ext cx="11430000" cy="54864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WINNER: Option 3 — JV/PPA with AWS  |  Score: 4.80/5  |  Only option delivering +65% FCF growth + independence + proven precedent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 Assessment &amp; Mitigation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PPA negotiation fails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A4E42"/>
                          </a:solidFill>
                          <a:latin typeface="Calibri"/>
                        </a:defRPr>
                      </a:pPr>
                      <a:r>
                        <a:t>Low (20%)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Competitive bid: AWS, MSFT, Google, Meta all want nuclear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FERC blocks BTM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Med (30%)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Front-of-meter PPA primary (no FERC needed); BTM is backup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Nuclear plant outage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A4E42"/>
                          </a:solidFill>
                          <a:latin typeface="Calibri"/>
                        </a:defRPr>
                      </a:pPr>
                      <a:r>
                        <a:t>Low (10%)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92%+ CF; dual-unit redundancy; force majeure clauses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PPA price below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Med (25%)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Even $75/MWh = +$290M/yr vs merchant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Dissident escalates first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Med (35%)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Board seat offer; announce framework early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DC construction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Med (30%)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PPA revenue starts Day 1 regardless of 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" y="6309360"/>
            <a:ext cx="11430000" cy="4572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Even worst-case ($75/MWh): +$290M/yr revenue, $5.8B NPV  |  Talen faced greater risks (bankruptcy) and succeeded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ESG &amp; Sustainability</a:t>
            </a:r>
          </a:p>
        </p:txBody>
      </p:sp>
      <p:pic>
        <p:nvPicPr>
          <p:cNvPr id="4" name="Picture 3" descr="fig_es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430000" cy="45050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4E42"/>
                </a:solidFill>
                <a:latin typeface="Calibri"/>
              </a:defRPr>
            </a:pPr>
            <a:r>
              <a:t>Hyperscaler Sustainability Mandates — Why Nuclear Wins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4480560"/>
            <a:ext cx="3474720" cy="640080"/>
          </a:xfrm>
          <a:prstGeom prst="round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AWS: Net-zero by 2040  |  35+ GW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480560"/>
            <a:ext cx="3474720" cy="640080"/>
          </a:xfrm>
          <a:prstGeom prst="round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Microsoft: Carbon-negative by 2030  |  30+ GW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4480560"/>
            <a:ext cx="3474720" cy="640080"/>
          </a:xfrm>
          <a:prstGeom prst="round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Google: 24/7 carbon-free by 2030  |  25+ GW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94960"/>
            <a:ext cx="11430000" cy="118872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ESG Value: $2–4B Over 5 Years</a:t>
            </a:r>
          </a:p>
          <a:p>
            <a:pPr algn="ctr">
              <a:defRPr sz="1200">
                <a:solidFill>
                  <a:srgbClr val="FFF4DA"/>
                </a:solidFill>
                <a:latin typeface="Calibri"/>
              </a:defRPr>
            </a:pPr>
            <a:r>
              <a:t>+1–2x EV/EBITDA from ESG premium  |  Green bond savings $15–25M/yr  |  45Q credits $85–350M/yr</a:t>
            </a:r>
          </a:p>
          <a:p>
            <a:pPr algn="ctr">
              <a:defRPr sz="1200" b="1">
                <a:solidFill>
                  <a:srgbClr val="6AC758"/>
                </a:solidFill>
                <a:latin typeface="Calibri"/>
              </a:defRPr>
            </a:pPr>
            <a:r>
              <a:t>Option 2 DESTROYS ESG value (oil major ownership → ESG funds divest)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CCUS Integration — Gas Fleet Value Unlock</a:t>
            </a:r>
          </a:p>
        </p:txBody>
      </p:sp>
      <p:pic>
        <p:nvPicPr>
          <p:cNvPr id="4" name="Picture 3" descr="fig_ccus_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430000" cy="450500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93192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Capacity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45Q Credits/yr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Capex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1: Pilot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800 MW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$85M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$400M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2027–29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2: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2,000 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$210M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$900M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2029–31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3: Full Fleet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3,500 MW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$350M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$1.5B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2031–34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6,300 MW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$350M/yr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$2.8B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2027–34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400800"/>
            <a:ext cx="11430000" cy="36576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Nuclear (0g CO₂) + CCUS Gas (~72 lb/MWh) = Only IPP offering 24/7 near-zero carbon in PJM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Nuclear Regulatory &amp; Risk Management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Body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Concern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Solution</a:t>
                      </a:r>
                    </a:p>
                  </a:txBody>
                  <a:tcPr>
                    <a:solidFill>
                      <a:srgbClr val="3A4E4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NRC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License amendment for DC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A4E42"/>
                          </a:solidFill>
                          <a:latin typeface="Calibri"/>
                        </a:defRPr>
                      </a:pPr>
                      <a:r>
                        <a:t>Low–Med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No change for FoM PPA; BTM has Talen precedent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FERC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BTM reduces grid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FoM PPA primary (no approval); Talen survived FERC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State PUC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DC siting permits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A4E42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Nuclear sites have industrial zoning already</a:t>
                      </a:r>
                    </a:p>
                  </a:txBody>
                  <a:tcPr>
                    <a:solidFill>
                      <a:srgbClr val="E9E3D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PJM 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Capacity obligation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5E9A66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23232"/>
                          </a:solidFill>
                          <a:latin typeface="Calibri"/>
                        </a:defRPr>
                      </a:pPr>
                      <a:r>
                        <a:t>Maintain FoM to preserve capacity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_regulatory_dual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840480"/>
            <a:ext cx="6400800" cy="24789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4E42"/>
                </a:solidFill>
                <a:latin typeface="Calibri"/>
              </a:defRPr>
            </a:pPr>
            <a:r>
              <a:t>Key Advantages vs Options 1 &amp;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297680"/>
            <a:ext cx="45720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A4E42"/>
                </a:solidFill>
                <a:latin typeface="Calibri"/>
              </a:rPr>
              <a:t>✓ No NRC Transfer: </a:t>
            </a:r>
            <a:r>
              <a:rPr sz="1100">
                <a:solidFill>
                  <a:srgbClr val="323232"/>
                </a:solidFill>
                <a:latin typeface="Calibri"/>
              </a:rPr>
              <a:t>Opt 2 needs 12–18 months. We retain ownership.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4937760"/>
            <a:ext cx="45720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A4E42"/>
                </a:solidFill>
                <a:latin typeface="Calibri"/>
              </a:rPr>
              <a:t>✓ No Antitrust Review: </a:t>
            </a:r>
            <a:r>
              <a:rPr sz="1100">
                <a:solidFill>
                  <a:srgbClr val="323232"/>
                </a:solidFill>
                <a:latin typeface="Calibri"/>
              </a:rPr>
              <a:t>Opt 1's $4–6B triggers HSR Act. PPA doesn't.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5577840"/>
            <a:ext cx="45720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A4E42"/>
                </a:solidFill>
                <a:latin typeface="Calibri"/>
              </a:rPr>
              <a:t>✓ FERC De-Risked: </a:t>
            </a:r>
            <a:r>
              <a:rPr sz="1100">
                <a:solidFill>
                  <a:srgbClr val="323232"/>
                </a:solidFill>
                <a:latin typeface="Calibri"/>
              </a:rPr>
              <a:t>FoM PPA is standard bilateral trade.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6217920"/>
            <a:ext cx="457200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A4E42"/>
                </a:solidFill>
                <a:latin typeface="Calibri"/>
              </a:rPr>
              <a:t>✓ 1–3 Month Close: </a:t>
            </a:r>
            <a:r>
              <a:rPr sz="1100">
                <a:solidFill>
                  <a:srgbClr val="323232"/>
                </a:solidFill>
                <a:latin typeface="Calibri"/>
              </a:rPr>
              <a:t>Revenue starts immediately.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