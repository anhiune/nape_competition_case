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Strategic Evaluation of Generation</a:t>
            </a:r>
            <a:br/>
            <a:r>
              <a:t>Options for SMU/NAPE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Assessing Build, Buy, and Co-Location Models for Long-Term Reliability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BD0"/>
                </a:solidFill>
                <a:latin typeface="Calibri"/>
              </a:defRPr>
            </a:pPr>
            <a:r>
              <a:t>Team Members: Anh Bui, Minh Nguyen, Cuong Nguyen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474720"/>
            <a:ext cx="4846320" cy="27432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 to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56032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Business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Power generation developer/operator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Clients: Hyperscalers (AI, cloud), data centers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13,000 MW owned capacity (coal, gas, nuclear)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Operating in PJM RTO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Market Cap: $20B | EV: $23B | EV/EBITDA: 30x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Adj FCF/Share: $10.20 | Target: 30%+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56032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Current Situation &amp;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Demand outpacing grid growth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Policy &amp; decarbonization pressure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Capital &amp; execution constraints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8% cost of debt, 12% cost of equity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60/40 debt-equity structure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BB credit rating limits flexibility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Existing Generation 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Nuclear Baseload: 2,200 MW  |  Gas Peaker: 3,100 MW  |  Gas Baseload: 3,400 MW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Coal Intermediate: 600 MW  |  Coal Baseload: 200 MW  |  Coal/Gas Intermediate: 1,400 MW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3200400" cy="320040"/>
          </a:xfrm>
          <a:prstGeom prst="roundRect">
            <a:avLst>
              <a:gd name="adj" fmla="val 15000"/>
            </a:avLst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 consideration of Market Competition &amp; Financial Situation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550 MW CCGT — Case Excel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CF ~60% → ~2.89 TWh/yr (capacity × CF × 8,760)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Gas = 40–45% of U.S. generation; backbone dispatchable fuel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Capex &amp;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Capex = $1,150/kW → ~$633M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Merchant PJM pricing volatile; capacity auctions uncertain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Returns depend on securing long-term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Meets dispatchable needs, but weaker ESG vs nuclear/renewables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AI firms increasingly pursuing low-carbon power partnerships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Industry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Tariffs &amp; supply-chain issues make renewables pricier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Higher interest rates increase cost of capital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~12.3 GW of U.S. capacity retiring in 2025 (mostly coal/gas)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3200400" cy="320040"/>
          </a:xfrm>
          <a:prstGeom prst="roundRect">
            <a:avLst>
              <a:gd name="adj" fmla="val 15000"/>
            </a:avLst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 consideration of Market Competition &amp; Financial Situation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0116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Immediate Capacity &amp; Cash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Acquire existing 550 MW CCGT (~$450M modeled)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CF ~70% → ~3.37 TWh/yr, no construction delay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0116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Asset &amp; Carbon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Older units → efficiency decay; higher O&amp;M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Gas = ~875 lb/MWh CO₂ → policy exposure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LNG export growth → greater gas price volatility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1124712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Strategic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Fastest capacity addition but non-scalable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Nuclear (18–20% of U.S. supply) grows mainly through life extensions, limiting acquisition supply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Regulatory risk: future EPA rules require older thermal units to retire or install 90% carbon capture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Buy gives fast megawatts but locks into carbon-exposed, aging assets that don't scale well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3200400" cy="320040"/>
          </a:xfrm>
          <a:prstGeom prst="roundRect">
            <a:avLst>
              <a:gd name="adj" fmla="val 1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 consideration of Market Competition &amp; Financial Situation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56032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Economic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Long-term offtake → stable cash flow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Shared capex improves IRR vs pure Build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Avoids full merchant PJM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566160" cy="256032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56616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Market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Data centers: 415 TWh/yr globally; U.S. = 45%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Nearly half of U.S. capacity in 5 clusters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PJM/NoVA = epicenter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AI firms already partnering to reopen nuclear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749039" cy="256032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749039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4630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828800"/>
            <a:ext cx="3383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Co-located supply aligns reliability + sustainability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Most repeatable model across DC hubs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1124712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1247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Matches customer demand, stabilizes revenue, reduces PJM volatility exposure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Partner is the strongest option from a competitive standpoint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3200400" cy="320040"/>
          </a:xfrm>
          <a:prstGeom prst="roundRect">
            <a:avLst>
              <a:gd name="adj" fmla="val 15000"/>
            </a:avLst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 consideration of Operational &amp; Execution (Resources &amp; Supply Chain)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0116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Execution Burden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Industry-based build time: 24–30 months for CCGT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Permitting/supply-chain delays can extend to 22–36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0116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Cost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High upfront capex; interest carry throughout construction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Full merchant risk until COD (Commercial Operating Date)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1124712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Operational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Mid-merit plant (~60% CF in Excel)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Higher long-term carbon cost risk vs zero-carbon tech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Build delivers a modern unit, but only for a business with strong balance sheet and high risk tolerance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3200400" cy="320040"/>
          </a:xfrm>
          <a:prstGeom prst="roundRect">
            <a:avLst>
              <a:gd name="adj" fmla="val 15000"/>
            </a:avLst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 consideration of Operational &amp; Execution (Resources &amp; Supply Chain)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Asset Quality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Existing fleet shows mixed-age coal/gas/nuclear assets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Older assets → higher forced outages + R&amp;M capex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Market Scarcity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Nuclear = 18–20% of U.S. generation; growth via life extensions only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Efficient CCGTs near load hubs competitively priced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Limited availability of high-quality assets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Operational Downside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No design/siting control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Full carbon exposure retained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Long-term operational profile is largely locked in on day 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Partner (Co-location)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3200400" cy="320040"/>
          </a:xfrm>
          <a:prstGeom prst="roundRect">
            <a:avLst>
              <a:gd name="adj" fmla="val 1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 consideration of Operational &amp; Execution (Resources &amp; Supply Chain)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Co-located Asset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100–200 MW blocks sized to DC load (model-driven design)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Behind-the-meter reduces interconnection delays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Case allows behind/in-front of 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Execution &amp; Operations 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Long-term contracts → predictable dispatch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Smaller modular builds lower EPC exposure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AI firms already structuring JVs with power producers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47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JV structure, shared capex, regulatory load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Higher upfront coordination, lower long-term risk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Revenue and offtake are contracted — operational risk is lower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Partner Can Look Like?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100–200 MW blocks sized to DC load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Behind-the-meter reduces interconnection delays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Case allows behind/in-front of 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What SMU/NAPE Brings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Expertise operating gas, solar, and nuclear assets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Deliver firm dispatchable capacity, zero-carbon baseload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13,000 MW fleet across PJM including Northern Virginia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5486400" cy="29260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864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Illustrative Co-location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150 MW CCGT + 50 MW Solar serving a single AI campus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15–20 year PPA with fixed or indexed pricing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Cost-plus or regulated-like return structure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Hyperscaler co-funds capex; SMU/NAPE owns &amp; operates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486400" cy="29260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54864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Vertical Suggestions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AI &amp; hyperscale campuses — large loads, ~12% growth/yr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Enterprise &amp; government HPC — reliability-sensitive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Renewable-mandated hubs — states requiring low-carbon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Partner model scales well and repeats easily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Forecast and Estimation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1. Annual Energy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A (Nuclear): 6.45 TWh/year (92% CF)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B (Build Gas): 3.37 TWh/year (70% CF)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C (Acquire Gas): 2.89 TWh/year (60% CF)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Nuclear provides 2.23x more annual energy than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existing gas acquisition, matching world-class uptime.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3. Total Capital 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A (Nuclear): $3,000M ($3,750/kW)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B (Build Gas): $687.5M ($1,250/kW)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C (Acquire Gas): $450.0M ($818/kW)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Nuclear requires 4.4x more capital but delivers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zero-carbon baseload without construction delay.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Even with the least capital investment among all options, co-located Partner still generates the highest return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on energy output — making it the most capital-efficient strategy by far.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Forecast and Estimation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4. Net Present Value (NPV) at 7.68% WACC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C (Acquire Gas): +$63.7M (Positive DCF)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B (Build Gas): -$133.6M (Value destructive)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Scenario A (Nuclear): -$1,466.8M (Base case @ $60 PPA)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STRATEGIC UPSIDE: Nuclear NPV becomes positive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at $68/MWh; Meta deal was $85-90; Microsoft was $100.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4. LCOE Component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Nuclear: $65.41/MWh (Capital heavy, zero carbon)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Build Gas: $55.65/MWh (Fuel-driven, carbon exposed)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Buy Gas: $53.86/MWh (Best merchant margin)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At $100/ton carbon: Gas costs rise by $36/MWh,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swinging advantage permanently to Nuclear.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Co-Located Nuclear dominates — it's the only option creating substantial shareholder value.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Build CCGT barely breaks even. Acquiring nuclear outright destroys value due to excessive purchase price.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Forecast and Estimation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6. Free Cash Flow &amp; Investor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Hybrid Strategy (Partner+Buy) Adj FCF/Share: $13.80 (diluted) vs $10.20 base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FCF/Share Growth: 35.3% (vs 30% target) — Exceeds Management Goal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Market Multiple: 30x → 35-40x re-rating driven by 'AI infrastructure' story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Market Cap Potential: $20B → $44B+ (+122% value creation)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Credit Upgrade: BB to BBB potential adds $565M in debt savings (NPV)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1124712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Cash Flow Stability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Partner delivers the most stable and sustainable free cash flows over the entire projection period.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This stability is critical for meeting the company's 30%+ Adj FCF/Share growth target.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Forecast and Estimation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8. Net Profit After Tax and Depreciation — Annual Net Income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For steady-state annual net income (Years 7–17):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Co-Located Nuclear: ~$225M/year — Stable, contracted baseload economics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Buy Existing Gas: ~$70M/year — Limited by merchant risk and carbon pressure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Build New CCGT: ~$70M/year — Faces identical market constraints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Strategy Wins: Nuclear delivers 3.2x higher annual earnings than gas alternatives.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11247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 nuclear co-location partner option delivers 3.2x higher annual earnings than gas alternatives,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driven by contracted revenues with data center partner eliminating merchant exposure.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Assessment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36576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Calibri"/>
              </a:defRPr>
            </a:pPr>
            <a:r>
              <a:t>Risk 1: Dependence on single data center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The risk of relying on a single hyperscaler gives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them too much control over pricing and revenue stability.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Solutions: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Diversify partners and global locations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Use strong SLAs with clear performance &amp; exit terms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Expand into regions like Vietnam, India, Philippines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Risk 2: Complex revenue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Unclear or complicated revenue-splits can lead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to disputes and hurt margins.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Solutions: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Standardize contracts into simple pricing tiers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Implement automated revenue-management tools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to apply formulas consistently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Both risks are manageable through diversification, standardized contracts,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and automated revenue management tools.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Assessment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36576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Calibri"/>
              </a:defRPr>
            </a:pPr>
            <a:r>
              <a:t>Risk 3: Operational misalignment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Engineering, finance, and commercial teams move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at different speeds, which can slow down execution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with the data-center partner.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Solutions: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Align teams through shared OKRs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Run recurring cross-functional leadership meetings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to remove blockers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Industry Facts — The Game Changers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PJM Queue: 170,000 MW backlog; Build = 3-4 yr wait; Partner = Bypass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DC Load: Dominion Zone hit 20 GW by 2037 (3.5x forecast increase)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Nuclear CF: 90.96% fleet median; perfectly matches DC uptime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PPA Pricing: Market at $85-100/MWh vs our conservative $60/MWh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Capacity Market: Hit record $329/MW-day; adds $96M/yr to Nuclear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2468880"/>
          </a:xfrm>
          <a:prstGeom prst="roundRect">
            <a:avLst>
              <a:gd name="adj" fmla="val 3000"/>
            </a:avLst>
          </a:prstGeom>
          <a:solidFill>
            <a:srgbClr val="22223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36576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BD0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